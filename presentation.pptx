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2C2B29"/>
                </a:solidFill>
                <a:latin typeface="Georgia"/>
              </a:defRPr>
            </a:pPr>
            <a:r>
              <a:rPr sz="1800" b="0" i="0" u="none" strike="noStrike">
                <a:solidFill>
                  <a:srgbClr val="2C2B29"/>
                </a:solidFill>
                <a:latin typeface="Georgia"/>
              </a:rPr>
              <a:t>Inference Acceleration (x Baseline)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Inference Acceleration (x Baseline)</c:v>
                </c:pt>
              </c:strCache>
            </c:strRef>
          </c:tx>
          <c:spPr>
            <a:solidFill>
              <a:srgbClr val="8B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000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29b3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c3f6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7d3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ResNet-50</c:v>
                  </c:pt>
                  <c:pt idx="1">
                    <c:v>BERT-Large</c:v>
                  </c:pt>
                  <c:pt idx="2">
                    <c:v>LLaMA-7B</c:v>
                  </c:pt>
                  <c:pt idx="3">
                    <c:v>QuantumNet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3.2</c:v>
                </c:pt>
                <c:pt idx="1">
                  <c:v>5.8</c:v>
                </c:pt>
                <c:pt idx="2">
                  <c:v>8.4</c:v>
                </c:pt>
                <c:pt idx="3">
                  <c:v>14.1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6B686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2C2B29"/>
                </a:solidFill>
                <a:latin typeface="Georgia"/>
              </a:defRPr>
            </a:pPr>
            <a:r>
              <a:rPr sz="1800" b="0" i="0" u="none" strike="noStrike">
                <a:solidFill>
                  <a:srgbClr val="2C2B29"/>
                </a:solidFill>
                <a:latin typeface="Georgia"/>
              </a:rPr>
              <a:t>Cluster Resource Utilization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Cluster Resource Utilization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B0000"/>
              </a:solidFill>
              <a:effectLst/>
            </c:spPr>
          </c:dPt>
          <c:dPt>
            <c:idx val="1"/>
            <c:bubble3D val="0"/>
            <c:spPr>
              <a:solidFill>
                <a:srgbClr val="C29B38"/>
              </a:solidFill>
              <a:effectLst/>
            </c:spPr>
          </c:dPt>
          <c:dPt>
            <c:idx val="2"/>
            <c:bubble3D val="0"/>
            <c:spPr>
              <a:solidFill>
                <a:srgbClr val="1C3F60"/>
              </a:solidFill>
              <a:effectLst/>
            </c:spPr>
          </c:dPt>
          <c:dPt>
            <c:idx val="3"/>
            <c:bubble3D val="0"/>
            <c:spPr>
              <a:solidFill>
                <a:srgbClr val="2E7D32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Tensor Cores</c:v>
                </c:pt>
                <c:pt idx="1">
                  <c:v>Ingestion Mesh</c:v>
                </c:pt>
                <c:pt idx="2">
                  <c:v>Vector DB</c:v>
                </c:pt>
                <c:pt idx="3">
                  <c:v>Reserve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50</c:v>
                </c:pt>
                <c:pt idx="1">
                  <c:v>25</c:v>
                </c:pt>
                <c:pt idx="2">
                  <c:v>15</c:v>
                </c:pt>
                <c:pt idx="3">
                  <c:v>10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6B686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2C2B29"/>
                </a:solidFill>
                <a:latin typeface="Georgia"/>
              </a:defRPr>
            </a:pPr>
            <a:r>
              <a:rPr sz="1800" b="0" i="0" u="none" strike="noStrike">
                <a:solidFill>
                  <a:srgbClr val="2C2B29"/>
                </a:solidFill>
                <a:latin typeface="Georgia"/>
              </a:rPr>
              <a:t>Bandwidth Ingestion (GB/s)</a:t>
            </a:r>
          </a:p>
        </c:rich>
      </c:tx>
      <c:layout/>
      <c:overlay val="0"/>
    </c:title>
    <c:autoTitleDeleted val="0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Ingress</c:v>
                </c:pt>
              </c:strCache>
            </c:strRef>
          </c:tx>
          <c:spPr>
            <a:solidFill>
              <a:srgbClr val="8B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00:00</c:v>
                  </c:pt>
                  <c:pt idx="1">
                    <c:v>04:00</c:v>
                  </c:pt>
                  <c:pt idx="2">
                    <c:v>08:00</c:v>
                  </c:pt>
                  <c:pt idx="3">
                    <c:v>12:00</c:v>
                  </c:pt>
                  <c:pt idx="4">
                    <c:v>16:00</c:v>
                  </c:pt>
                  <c:pt idx="5">
                    <c:v>20:00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</c:v>
                </c:pt>
                <c:pt idx="1">
                  <c:v>22</c:v>
                </c:pt>
                <c:pt idx="2">
                  <c:v>58</c:v>
                </c:pt>
                <c:pt idx="3">
                  <c:v>92</c:v>
                </c:pt>
                <c:pt idx="4">
                  <c:v>74</c:v>
                </c:pt>
                <c:pt idx="5">
                  <c:v>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Egress</c:v>
                </c:pt>
              </c:strCache>
            </c:strRef>
          </c:tx>
          <c:spPr>
            <a:solidFill>
              <a:srgbClr val="C29B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00:00</c:v>
                  </c:pt>
                  <c:pt idx="1">
                    <c:v>04:00</c:v>
                  </c:pt>
                  <c:pt idx="2">
                    <c:v>08:00</c:v>
                  </c:pt>
                  <c:pt idx="3">
                    <c:v>12:00</c:v>
                  </c:pt>
                  <c:pt idx="4">
                    <c:v>16:00</c:v>
                  </c:pt>
                  <c:pt idx="5">
                    <c:v>20:00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</c:v>
                </c:pt>
                <c:pt idx="1">
                  <c:v>14</c:v>
                </c:pt>
                <c:pt idx="2">
                  <c:v>32</c:v>
                </c:pt>
                <c:pt idx="3">
                  <c:v>64</c:v>
                </c:pt>
                <c:pt idx="4">
                  <c:v>48</c:v>
                </c:pt>
                <c:pt idx="5">
                  <c:v>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6B686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COMPUTER SCIENCE &amp; SYSTEMS LAB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06390" y="790448"/>
            <a:ext cx="113789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 Neural Architecture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406390" y="1503680"/>
            <a:ext cx="113789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Formal Specification of Hybrid Classical-Quantum Distributed Ingestion &amp; Vector Processing Pipelines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495648" y="1943100"/>
            <a:ext cx="3200400" cy="285750"/>
          </a:xfrm>
          <a:prstGeom prst="roundRect">
            <a:avLst>
              <a:gd name="adj" fmla="val 48000"/>
            </a:avLst>
          </a:prstGeom>
          <a:solidFill>
            <a:srgbClr val="F5F2EB"/>
          </a:solidFill>
          <a:ln w="19050">
            <a:solidFill>
              <a:srgbClr val="8B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95648" y="1943100"/>
            <a:ext cx="32004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V2.4 PRODUCTION SPECIFICATION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 &amp; Table of Contents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 Outline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06390" y="1750060"/>
            <a:ext cx="5552298" cy="225146"/>
          </a:xfrm>
          <a:prstGeom prst="roundRect">
            <a:avLst>
              <a:gd name="adj" fmla="val 32491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16118" y="1698041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6" name="Text 4"/>
          <p:cNvSpPr/>
          <p:nvPr/>
        </p:nvSpPr>
        <p:spPr>
          <a:xfrm>
            <a:off x="516118" y="169804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09310" y="1804924"/>
            <a:ext cx="4957938" cy="115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 &amp; Table of Contents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750060"/>
            <a:ext cx="5552298" cy="225146"/>
          </a:xfrm>
          <a:prstGeom prst="roundRect">
            <a:avLst>
              <a:gd name="adj" fmla="val 32491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42736" y="1698041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10" name="Text 8"/>
          <p:cNvSpPr/>
          <p:nvPr/>
        </p:nvSpPr>
        <p:spPr>
          <a:xfrm>
            <a:off x="6342736" y="169804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35928" y="1804924"/>
            <a:ext cx="4957938" cy="115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Topology &amp; Neural Dispatch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06390" y="2084934"/>
            <a:ext cx="5552298" cy="225146"/>
          </a:xfrm>
          <a:prstGeom prst="roundRect">
            <a:avLst>
              <a:gd name="adj" fmla="val 32491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6118" y="2032914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516118" y="203291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09310" y="2139798"/>
            <a:ext cx="4957938" cy="115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Empirical Performance Evaluation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3008" y="2084934"/>
            <a:ext cx="5552298" cy="225146"/>
          </a:xfrm>
          <a:prstGeom prst="roundRect">
            <a:avLst>
              <a:gd name="adj" fmla="val 32491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42736" y="2032914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6342736" y="203291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735928" y="2139798"/>
            <a:ext cx="4957938" cy="115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Comparative Analysis &amp; Mathematical Model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06390" y="2419807"/>
            <a:ext cx="5552298" cy="225146"/>
          </a:xfrm>
          <a:prstGeom prst="roundRect">
            <a:avLst>
              <a:gd name="adj" fmla="val 32491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6118" y="236778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22" name="Text 20"/>
          <p:cNvSpPr/>
          <p:nvPr/>
        </p:nvSpPr>
        <p:spPr>
          <a:xfrm>
            <a:off x="516118" y="23677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09310" y="2474671"/>
            <a:ext cx="4957938" cy="115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Cluster Analytics &amp; Telemetry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33008" y="2419807"/>
            <a:ext cx="5552298" cy="225146"/>
          </a:xfrm>
          <a:prstGeom prst="roundRect">
            <a:avLst>
              <a:gd name="adj" fmla="val 32491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42736" y="236778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2736" y="23677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35928" y="2474671"/>
            <a:ext cx="4957938" cy="115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Implementation &amp; Runtime Kernel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06390" y="2754681"/>
            <a:ext cx="5552298" cy="225146"/>
          </a:xfrm>
          <a:prstGeom prst="roundRect">
            <a:avLst>
              <a:gd name="adj" fmla="val 32491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6118" y="2702662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30" name="Text 28"/>
          <p:cNvSpPr/>
          <p:nvPr/>
        </p:nvSpPr>
        <p:spPr>
          <a:xfrm>
            <a:off x="516118" y="270266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09310" y="2809545"/>
            <a:ext cx="4957938" cy="115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Protocol Handshake &amp; Sequence Verification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233008" y="2754681"/>
            <a:ext cx="5552298" cy="225146"/>
          </a:xfrm>
          <a:prstGeom prst="roundRect">
            <a:avLst>
              <a:gd name="adj" fmla="val 32491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42736" y="2702662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736" y="270266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35928" y="2809545"/>
            <a:ext cx="4957938" cy="115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Multi-Dimensional Capabilities &amp; Realtime SLA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06390" y="3089554"/>
            <a:ext cx="5552298" cy="225146"/>
          </a:xfrm>
          <a:prstGeom prst="roundRect">
            <a:avLst>
              <a:gd name="adj" fmla="val 32491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6118" y="3037535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38" name="Text 36"/>
          <p:cNvSpPr/>
          <p:nvPr/>
        </p:nvSpPr>
        <p:spPr>
          <a:xfrm>
            <a:off x="516118" y="303753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09310" y="3144418"/>
            <a:ext cx="4957938" cy="115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 Model &amp; Core Domain Contracts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Topology &amp; Neural Dispatch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Vector-Compiled Distributed Ingestion Mesh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862619" y="2794000"/>
            <a:ext cx="1024443" cy="9144"/>
          </a:xfrm>
          <a:prstGeom prst="line">
            <a:avLst/>
          </a:prstGeom>
          <a:noFill/>
          <a:ln w="25400">
            <a:solidFill>
              <a:srgbClr val="C29B38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4343290" y="2794000"/>
            <a:ext cx="1024443" cy="9144"/>
          </a:xfrm>
          <a:prstGeom prst="line">
            <a:avLst/>
          </a:prstGeom>
          <a:noFill/>
          <a:ln w="25400">
            <a:solidFill>
              <a:srgbClr val="C29B38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485180" y="2675128"/>
            <a:ext cx="740664" cy="237744"/>
          </a:xfrm>
          <a:prstGeom prst="roundRect">
            <a:avLst>
              <a:gd name="adj" fmla="val 23077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85180" y="2675128"/>
            <a:ext cx="740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TLS 1.3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23962" y="2794000"/>
            <a:ext cx="1024443" cy="9144"/>
          </a:xfrm>
          <a:prstGeom prst="line">
            <a:avLst/>
          </a:prstGeom>
          <a:noFill/>
          <a:ln w="25400">
            <a:solidFill>
              <a:srgbClr val="C29B3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709819" y="2675128"/>
            <a:ext cx="1252728" cy="237744"/>
          </a:xfrm>
          <a:prstGeom prst="roundRect">
            <a:avLst>
              <a:gd name="adj" fmla="val 23077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09819" y="2675128"/>
            <a:ext cx="12527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gRPC Streaming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 flipV="1">
            <a:off x="9304634" y="2075180"/>
            <a:ext cx="1024443" cy="718820"/>
          </a:xfrm>
          <a:prstGeom prst="line">
            <a:avLst/>
          </a:prstGeom>
          <a:noFill/>
          <a:ln w="25400">
            <a:solidFill>
              <a:srgbClr val="C29B3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304634" y="2794000"/>
            <a:ext cx="1024443" cy="718820"/>
          </a:xfrm>
          <a:prstGeom prst="line">
            <a:avLst/>
          </a:prstGeom>
          <a:noFill/>
          <a:ln w="25400">
            <a:solidFill>
              <a:srgbClr val="C29B3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373371" y="3034538"/>
            <a:ext cx="886968" cy="237744"/>
          </a:xfrm>
          <a:prstGeom prst="roundRect">
            <a:avLst>
              <a:gd name="adj" fmla="val 23077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73371" y="3034538"/>
            <a:ext cx="8869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Hot Cache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06390" y="2496820"/>
            <a:ext cx="1456229" cy="594360"/>
          </a:xfrm>
          <a:prstGeom prst="roundRect">
            <a:avLst>
              <a:gd name="adj" fmla="val 12308"/>
            </a:avLst>
          </a:prstGeom>
          <a:solidFill>
            <a:srgbClr val="F5F2EB"/>
          </a:solidFill>
          <a:ln w="25400">
            <a:solidFill>
              <a:srgbClr val="8B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254" y="2551684"/>
            <a:ext cx="1346501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Edge Sensors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887062" y="2496820"/>
            <a:ext cx="1456229" cy="594360"/>
          </a:xfrm>
          <a:prstGeom prst="roundRect">
            <a:avLst>
              <a:gd name="adj" fmla="val 12308"/>
            </a:avLst>
          </a:prstGeom>
          <a:solidFill>
            <a:srgbClr val="F5F2EB"/>
          </a:solidFill>
          <a:ln w="25400">
            <a:solidFill>
              <a:srgbClr val="C29B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41926" y="2551684"/>
            <a:ext cx="1346501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Ingestion Broker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367733" y="2496820"/>
            <a:ext cx="1456229" cy="594360"/>
          </a:xfrm>
          <a:prstGeom prst="roundRect">
            <a:avLst>
              <a:gd name="adj" fmla="val 12308"/>
            </a:avLst>
          </a:prstGeom>
          <a:solidFill>
            <a:srgbClr val="F5F2EB"/>
          </a:solidFill>
          <a:ln w="25400">
            <a:solidFill>
              <a:srgbClr val="C29B3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22597" y="2551684"/>
            <a:ext cx="1346501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Neural Dispatcher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848405" y="2496820"/>
            <a:ext cx="1456229" cy="594360"/>
          </a:xfrm>
          <a:prstGeom prst="roundRect">
            <a:avLst>
              <a:gd name="adj" fmla="val 12308"/>
            </a:avLst>
          </a:prstGeom>
          <a:solidFill>
            <a:srgbClr val="F5F2EB"/>
          </a:solidFill>
          <a:ln w="25400">
            <a:solidFill>
              <a:srgbClr val="C29B3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03269" y="2551684"/>
            <a:ext cx="1346501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 Tensor Cores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329077" y="1778000"/>
            <a:ext cx="1456229" cy="594360"/>
          </a:xfrm>
          <a:prstGeom prst="can">
            <a:avLst>
              <a:gd name="adj" fmla="val 12308"/>
            </a:avLst>
          </a:prstGeom>
          <a:solidFill>
            <a:srgbClr val="F5F2EB"/>
          </a:solidFill>
          <a:ln w="25400">
            <a:solidFill>
              <a:srgbClr val="8B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466237" y="1869440"/>
            <a:ext cx="1181909" cy="18288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83941" y="1832864"/>
            <a:ext cx="1346501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Vector Knowledge Base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0329077" y="3215640"/>
            <a:ext cx="1456229" cy="594360"/>
          </a:xfrm>
          <a:prstGeom prst="can">
            <a:avLst>
              <a:gd name="adj" fmla="val 12308"/>
            </a:avLst>
          </a:prstGeom>
          <a:solidFill>
            <a:srgbClr val="F5F2EB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466237" y="3307080"/>
            <a:ext cx="1181909" cy="1828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383941" y="3270504"/>
            <a:ext cx="1346501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Redis Semantic Cache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Empirical Performance Evaluation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Measured Benchmarks Across Compute Clusters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5600560" cy="2120900"/>
          </a:xfrm>
          <a:prstGeom prst="roundRect">
            <a:avLst>
              <a:gd name="adj" fmla="val 3449"/>
            </a:avLst>
          </a:prstGeom>
          <a:solidFill>
            <a:srgbClr val="F5F2EB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1814576"/>
            <a:ext cx="54864" cy="204774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1942592"/>
            <a:ext cx="514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Inference Latency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09585" y="2362200"/>
            <a:ext cx="5194170" cy="825500"/>
          </a:xfrm>
          <a:prstGeom prst="roundRect">
            <a:avLst>
              <a:gd name="adj" fmla="val 8862"/>
            </a:avLst>
          </a:prstGeom>
          <a:solidFill>
            <a:srgbClr val="F5F2EB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1025" y="2453640"/>
            <a:ext cx="50112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BENCHMARKED SPEEDUP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01025" y="2673096"/>
            <a:ext cx="501129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1.42ms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09585" y="33655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End-to-end latency reduction under heavy concurrent load.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184745" y="1778000"/>
            <a:ext cx="5600560" cy="2324100"/>
          </a:xfrm>
          <a:prstGeom prst="roundRect">
            <a:avLst>
              <a:gd name="adj" fmla="val 3148"/>
            </a:avLst>
          </a:prstGeom>
          <a:solidFill>
            <a:srgbClr val="F5F2EB"/>
          </a:solidFill>
          <a:ln w="19050">
            <a:solidFill>
              <a:srgbClr val="C29B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03033" y="1814576"/>
            <a:ext cx="54864" cy="2250948"/>
          </a:xfrm>
          <a:prstGeom prst="roundRect">
            <a:avLst>
              <a:gd name="adj" fmla="val 50000"/>
            </a:avLst>
          </a:prstGeom>
          <a:solidFill>
            <a:srgbClr val="C29B38"/>
          </a:solidFill>
          <a:ln/>
        </p:spPr>
      </p:sp>
      <p:sp>
        <p:nvSpPr>
          <p:cNvPr id="13" name="Text 11"/>
          <p:cNvSpPr/>
          <p:nvPr/>
        </p:nvSpPr>
        <p:spPr>
          <a:xfrm>
            <a:off x="6413345" y="1942592"/>
            <a:ext cx="514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9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Throughput Capacity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387940" y="2362200"/>
            <a:ext cx="5194170" cy="825500"/>
          </a:xfrm>
          <a:prstGeom prst="roundRect">
            <a:avLst>
              <a:gd name="adj" fmla="val 8862"/>
            </a:avLst>
          </a:prstGeom>
          <a:solidFill>
            <a:srgbClr val="F5F2EB"/>
          </a:solidFill>
          <a:ln w="19050">
            <a:solidFill>
              <a:srgbClr val="C29B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9380" y="2453640"/>
            <a:ext cx="50112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BENCHMARKED SPEEDUP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79380" y="2673096"/>
            <a:ext cx="501129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29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450k op/s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387940" y="3365500"/>
            <a:ext cx="5194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Peak distributed operations sustained without buffer degradation.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Comparative Analysis &amp; Mathematical Model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Formal Energy Convergence Formulation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5506578" cy="2336800"/>
          </a:xfrm>
          <a:prstGeom prst="roundRect">
            <a:avLst>
              <a:gd name="adj" fmla="val 3913"/>
            </a:avLst>
          </a:prstGeom>
          <a:solidFill>
            <a:srgbClr val="F5F2EB"/>
          </a:solidFill>
          <a:ln w="19050">
            <a:solidFill>
              <a:srgbClr val="E0DAC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3550" y="1915160"/>
            <a:ext cx="52322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Legacy Classical CPU / GPU Pipeline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78728" y="1778000"/>
            <a:ext cx="5506578" cy="2336800"/>
          </a:xfrm>
          <a:prstGeom prst="roundRect">
            <a:avLst>
              <a:gd name="adj" fmla="val 3913"/>
            </a:avLst>
          </a:prstGeom>
          <a:solidFill>
            <a:srgbClr val="F5F2EB"/>
          </a:solidFill>
          <a:ln w="19050">
            <a:solidFill>
              <a:srgbClr val="E0D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15888" y="1915160"/>
            <a:ext cx="52322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Neural Tensor Pipeline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58688" y="278180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DACD"/>
          </a:solidFill>
          <a:ln/>
        </p:spPr>
      </p:sp>
      <p:sp>
        <p:nvSpPr>
          <p:cNvPr id="9" name="Text 7"/>
          <p:cNvSpPr/>
          <p:nvPr/>
        </p:nvSpPr>
        <p:spPr>
          <a:xfrm>
            <a:off x="5958688" y="27818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876218" y="2216150"/>
            <a:ext cx="2660904" cy="285750"/>
          </a:xfrm>
          <a:prstGeom prst="roundRect">
            <a:avLst>
              <a:gd name="adj" fmla="val 48000"/>
            </a:avLst>
          </a:prstGeom>
          <a:solidFill>
            <a:srgbClr val="F5F2EB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76218" y="2216150"/>
            <a:ext cx="2660904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5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LEGACY INFRASTRUCTURE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58786" y="2590800"/>
            <a:ext cx="5295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Linear memory scaling with quadratic communication overhead during multi-node synchronization.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58786" y="3136900"/>
            <a:ext cx="5295768" cy="825500"/>
          </a:xfrm>
          <a:prstGeom prst="roundRect">
            <a:avLst>
              <a:gd name="adj" fmla="val 8862"/>
            </a:avLst>
          </a:prstGeom>
          <a:solidFill>
            <a:srgbClr val="F5F2EB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0226" y="3228340"/>
            <a:ext cx="5112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AVG CONVERGENCE TIME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0226" y="3447796"/>
            <a:ext cx="51128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65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68ms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7553989" y="2216150"/>
            <a:ext cx="2862072" cy="285750"/>
          </a:xfrm>
          <a:prstGeom prst="roundRect">
            <a:avLst>
              <a:gd name="adj" fmla="val 48000"/>
            </a:avLst>
          </a:prstGeom>
          <a:solidFill>
            <a:srgbClr val="F5F2EB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53989" y="2216150"/>
            <a:ext cx="2862072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DISTRIBUTED TENSOR CORE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37142" y="2590800"/>
            <a:ext cx="5295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Logarithmic latency scaling leveraging quantum sparse tensor compression.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337142" y="3136900"/>
            <a:ext cx="5295768" cy="825500"/>
          </a:xfrm>
          <a:prstGeom prst="roundRect">
            <a:avLst>
              <a:gd name="adj" fmla="val 8862"/>
            </a:avLst>
          </a:prstGeom>
          <a:solidFill>
            <a:srgbClr val="F5F2EB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28582" y="3228340"/>
            <a:ext cx="5112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AVG CONVERGENCE TIME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28582" y="3447796"/>
            <a:ext cx="51128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4.1ms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406390" y="4292600"/>
            <a:ext cx="11378916" cy="571500"/>
          </a:xfrm>
          <a:prstGeom prst="roundRect">
            <a:avLst>
              <a:gd name="adj" fmla="val 12800"/>
            </a:avLst>
          </a:prstGeom>
          <a:solidFill>
            <a:srgbClr val="F5F2EB"/>
          </a:solidFill>
          <a:ln w="15240">
            <a:solidFill>
              <a:srgbClr val="E0DAC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6390" y="4292600"/>
            <a:ext cx="54864" cy="57150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3550" y="4292600"/>
            <a:ext cx="11104596" cy="5715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2C2B29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\mathcal{L}(\theta) = \mathbb{E}_{x \sim \mathcal{D}} \left[ \| f_\theta(x) - y \|_2^2 \right] + \lambda \sum_{i=1}^N \Omega(W_i)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Cluster Analytics &amp; Telemetry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Resource Allocation &amp; Workload Distribution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06390" y="1778000"/>
          <a:ext cx="5600560" cy="19685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184745" y="1778000"/>
          <a:ext cx="5600560" cy="19685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Implementation &amp; Runtime Kernel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Zero-Trust Mesh &amp; Compiler Directives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6720672" cy="838200"/>
          </a:xfrm>
          <a:prstGeom prst="roundRect">
            <a:avLst>
              <a:gd name="adj" fmla="val 8727"/>
            </a:avLst>
          </a:prstGeom>
          <a:solidFill>
            <a:srgbClr val="2C2B29"/>
          </a:solidFill>
          <a:ln w="19050">
            <a:solidFill>
              <a:srgbClr val="E0DAC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3550" y="18877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0710" y="18877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7870" y="18877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9270" y="2070608"/>
            <a:ext cx="6354912" cy="472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2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YumiaCompiler, createEngine } from '@yumiamd/core';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5F2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engine = createEngine({ target: 'multi-target' });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5F2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result = await engine.compile('presentation.yumia');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304857" y="1778000"/>
            <a:ext cx="4480448" cy="831850"/>
          </a:xfrm>
          <a:prstGeom prst="roundRect">
            <a:avLst>
              <a:gd name="adj" fmla="val 8794"/>
            </a:avLst>
          </a:prstGeom>
          <a:solidFill>
            <a:srgbClr val="F5F2EB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42017" y="1851152"/>
            <a:ext cx="4206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Verified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442017" y="2171192"/>
            <a:ext cx="4206128" cy="3655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cluster nodes reporting optimal throughput with zero memory leaks.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516381" y="2787650"/>
            <a:ext cx="2057400" cy="285750"/>
          </a:xfrm>
          <a:prstGeom prst="roundRect">
            <a:avLst>
              <a:gd name="adj" fmla="val 48000"/>
            </a:avLst>
          </a:prstGeom>
          <a:solidFill>
            <a:srgbClr val="F5F2EB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16381" y="2787650"/>
            <a:ext cx="20574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ZERO-TRUST MTLS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415797" y="3251200"/>
            <a:ext cx="2258568" cy="285750"/>
          </a:xfrm>
          <a:prstGeom prst="roundRect">
            <a:avLst>
              <a:gd name="adj" fmla="val 48000"/>
            </a:avLst>
          </a:prstGeom>
          <a:solidFill>
            <a:srgbClr val="F5F2EB"/>
          </a:solidFill>
          <a:ln w="19050">
            <a:solidFill>
              <a:srgbClr val="8B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5797" y="3251200"/>
            <a:ext cx="2258568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WCAG AAA VERIFIED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Protocol Handshake &amp; Sequence Verification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Cryptographic Key &amp; State Negotiation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229350" y="2280920"/>
            <a:ext cx="9144" cy="1830070"/>
          </a:xfrm>
          <a:prstGeom prst="line">
            <a:avLst/>
          </a:prstGeom>
          <a:noFill/>
          <a:ln w="19050">
            <a:solidFill>
              <a:srgbClr val="E0DACD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589270" y="1869440"/>
            <a:ext cx="1280160" cy="411480"/>
          </a:xfrm>
          <a:prstGeom prst="roundRect">
            <a:avLst>
              <a:gd name="adj" fmla="val 13333"/>
            </a:avLst>
          </a:prstGeom>
          <a:solidFill>
            <a:srgbClr val="C29B38"/>
          </a:solidFill>
          <a:ln w="19050">
            <a:solidFill>
              <a:srgbClr val="8B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4990" y="1906016"/>
            <a:ext cx="118872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Client Node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473682" y="2280920"/>
            <a:ext cx="9144" cy="1830070"/>
          </a:xfrm>
          <a:prstGeom prst="line">
            <a:avLst/>
          </a:prstGeom>
          <a:noFill/>
          <a:ln w="19050">
            <a:solidFill>
              <a:srgbClr val="E0DACD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833602" y="1869440"/>
            <a:ext cx="1280160" cy="411480"/>
          </a:xfrm>
          <a:prstGeom prst="roundRect">
            <a:avLst>
              <a:gd name="adj" fmla="val 13333"/>
            </a:avLst>
          </a:prstGeom>
          <a:solidFill>
            <a:srgbClr val="F5F2EB"/>
          </a:solidFill>
          <a:ln w="19050">
            <a:solidFill>
              <a:srgbClr val="8B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9322" y="1906016"/>
            <a:ext cx="118872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Mesh Gateway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718014" y="2280920"/>
            <a:ext cx="9144" cy="1830070"/>
          </a:xfrm>
          <a:prstGeom prst="line">
            <a:avLst/>
          </a:prstGeom>
          <a:noFill/>
          <a:ln w="19050">
            <a:solidFill>
              <a:srgbClr val="E0DACD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7077934" y="1869440"/>
            <a:ext cx="1280160" cy="411480"/>
          </a:xfrm>
          <a:prstGeom prst="roundRect">
            <a:avLst>
              <a:gd name="adj" fmla="val 13333"/>
            </a:avLst>
          </a:prstGeom>
          <a:solidFill>
            <a:srgbClr val="F5F2EB"/>
          </a:solidFill>
          <a:ln w="19050">
            <a:solidFill>
              <a:srgbClr val="8B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23654" y="1906016"/>
            <a:ext cx="118872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Identity Authority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962345" y="2280920"/>
            <a:ext cx="9144" cy="1830070"/>
          </a:xfrm>
          <a:prstGeom prst="line">
            <a:avLst/>
          </a:prstGeom>
          <a:noFill/>
          <a:ln w="19050">
            <a:solidFill>
              <a:srgbClr val="E0DACD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322265" y="1869440"/>
            <a:ext cx="1280160" cy="411480"/>
          </a:xfrm>
          <a:prstGeom prst="roundRect">
            <a:avLst>
              <a:gd name="adj" fmla="val 13333"/>
            </a:avLst>
          </a:prstGeom>
          <a:solidFill>
            <a:srgbClr val="F5F2EB"/>
          </a:solidFill>
          <a:ln w="19050">
            <a:solidFill>
              <a:srgbClr val="8B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367985" y="1906016"/>
            <a:ext cx="118872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HSM Vault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229350" y="2463800"/>
            <a:ext cx="3244332" cy="9144"/>
          </a:xfrm>
          <a:prstGeom prst="line">
            <a:avLst/>
          </a:prstGeom>
          <a:noFill/>
          <a:ln w="25400">
            <a:solidFill>
              <a:srgbClr val="8B000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845676" y="2244344"/>
            <a:ext cx="2011680" cy="201168"/>
          </a:xfrm>
          <a:prstGeom prst="roundRect">
            <a:avLst>
              <a:gd name="adj" fmla="val 18182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845676" y="224434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Secure TLS Request + PKCE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473682" y="2723092"/>
            <a:ext cx="3244332" cy="9144"/>
          </a:xfrm>
          <a:prstGeom prst="line">
            <a:avLst/>
          </a:prstGeom>
          <a:noFill/>
          <a:ln w="25400">
            <a:solidFill>
              <a:srgbClr val="8B000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309464" y="2503636"/>
            <a:ext cx="1572768" cy="201168"/>
          </a:xfrm>
          <a:prstGeom prst="roundRect">
            <a:avLst>
              <a:gd name="adj" fmla="val 18182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09464" y="2503636"/>
            <a:ext cx="15727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/oauth/v2/handshake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718014" y="2982383"/>
            <a:ext cx="3244332" cy="9144"/>
          </a:xfrm>
          <a:prstGeom prst="line">
            <a:avLst/>
          </a:prstGeom>
          <a:noFill/>
          <a:ln w="25400">
            <a:solidFill>
              <a:srgbClr val="8B000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590371" y="2762927"/>
            <a:ext cx="1499616" cy="201168"/>
          </a:xfrm>
          <a:prstGeom prst="roundRect">
            <a:avLst>
              <a:gd name="adj" fmla="val 18182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0371" y="2762927"/>
            <a:ext cx="14996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Fetch Session Keys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 flipH="1">
            <a:off x="7718014" y="3241675"/>
            <a:ext cx="3244332" cy="9144"/>
          </a:xfrm>
          <a:prstGeom prst="line">
            <a:avLst/>
          </a:prstGeom>
          <a:noFill/>
          <a:ln w="25400">
            <a:solidFill>
              <a:srgbClr val="C29B38"/>
            </a:solidFill>
            <a:prstDash val="dash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626947" y="3022219"/>
            <a:ext cx="1426464" cy="201168"/>
          </a:xfrm>
          <a:prstGeom prst="roundRect">
            <a:avLst>
              <a:gd name="adj" fmla="val 18182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26947" y="3022219"/>
            <a:ext cx="14264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Ephemeral Keypair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 flipH="1">
            <a:off x="4473682" y="3500967"/>
            <a:ext cx="3244332" cy="9144"/>
          </a:xfrm>
          <a:prstGeom prst="line">
            <a:avLst/>
          </a:prstGeom>
          <a:noFill/>
          <a:ln w="25400">
            <a:solidFill>
              <a:srgbClr val="C29B38"/>
            </a:solidFill>
            <a:prstDash val="dash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053432" y="3281511"/>
            <a:ext cx="2084832" cy="201168"/>
          </a:xfrm>
          <a:prstGeom prst="roundRect">
            <a:avLst>
              <a:gd name="adj" fmla="val 18182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53432" y="3281511"/>
            <a:ext cx="20848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Verified Token &amp; Signature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 flipH="1">
            <a:off x="1229350" y="3760258"/>
            <a:ext cx="3244332" cy="9144"/>
          </a:xfrm>
          <a:prstGeom prst="line">
            <a:avLst/>
          </a:prstGeom>
          <a:noFill/>
          <a:ln w="25400">
            <a:solidFill>
              <a:srgbClr val="C29B38"/>
            </a:solidFill>
            <a:prstDash val="dash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101708" y="3540802"/>
            <a:ext cx="1499616" cy="201168"/>
          </a:xfrm>
          <a:prstGeom prst="roundRect">
            <a:avLst>
              <a:gd name="adj" fmla="val 18182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101708" y="3540802"/>
            <a:ext cx="14996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 OK + JWT Proof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169374" y="3836670"/>
            <a:ext cx="1097280" cy="320040"/>
          </a:xfrm>
          <a:prstGeom prst="roundRect">
            <a:avLst>
              <a:gd name="adj" fmla="val 11429"/>
            </a:avLst>
          </a:prstGeom>
          <a:solidFill>
            <a:srgbClr val="E65100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215094" y="3873246"/>
            <a:ext cx="10058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Token validity window: 3600s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Multi-Dimensional Capabilities &amp; Realtime SLA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Dynamic Telemetry &amp; Capability Radar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5600560" cy="2222500"/>
          </a:xfrm>
          <a:prstGeom prst="roundRect">
            <a:avLst>
              <a:gd name="adj" fmla="val 4114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06390" y="1887728"/>
            <a:ext cx="560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 Capability Radar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270" y="2235200"/>
            <a:ext cx="5234800" cy="1673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[RADAR ASSESSMENT]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Throughput: 96   •   Low Latency: 92   •   Scalability: 98   •   Memory Efficiency: 90   •   Resilience: 95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84745" y="1778000"/>
            <a:ext cx="5600560" cy="1587500"/>
          </a:xfrm>
          <a:prstGeom prst="roundRect">
            <a:avLst>
              <a:gd name="adj" fmla="val 5760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84745" y="1915160"/>
            <a:ext cx="560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Cluster SLA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184745" y="2235200"/>
            <a:ext cx="560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99.98%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184745" y="2966720"/>
            <a:ext cx="560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 Availability Uptime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6184745" y="3543300"/>
          <a:ext cx="5600560" cy="19685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 Model &amp; Core Domain Contracts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Compiler &amp; Tensor Architecture Hierarchy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3640572" cy="1524000"/>
          </a:xfrm>
          <a:prstGeom prst="roundRect">
            <a:avLst>
              <a:gd name="adj" fmla="val 3600"/>
            </a:avLst>
          </a:prstGeom>
          <a:solidFill>
            <a:srgbClr val="F5F2EB"/>
          </a:solidFill>
          <a:ln w="19050">
            <a:solidFill>
              <a:srgbClr val="E0DAC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06390" y="1778000"/>
            <a:ext cx="3640572" cy="402336"/>
          </a:xfrm>
          <a:prstGeom prst="roundRect">
            <a:avLst>
              <a:gd name="adj" fmla="val 13636"/>
            </a:avLst>
          </a:prstGeom>
          <a:solidFill>
            <a:srgbClr val="C29B38"/>
          </a:solidFill>
          <a:ln w="12700">
            <a:solidFill>
              <a:srgbClr val="C29B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2110" y="1796288"/>
            <a:ext cx="35491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&lt;&lt;interface&gt;&gt;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INeuralKernel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97830" y="2235200"/>
            <a:ext cx="3457692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executeTensor(ctx: Context): TensorResult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syncGradients(): void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275562" y="1778000"/>
            <a:ext cx="3640572" cy="1524000"/>
          </a:xfrm>
          <a:prstGeom prst="roundRect">
            <a:avLst>
              <a:gd name="adj" fmla="val 3600"/>
            </a:avLst>
          </a:prstGeom>
          <a:solidFill>
            <a:srgbClr val="F5F2EB"/>
          </a:solidFill>
          <a:ln w="19050">
            <a:solidFill>
              <a:srgbClr val="E0DAC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75562" y="1778000"/>
            <a:ext cx="3640572" cy="310896"/>
          </a:xfrm>
          <a:prstGeom prst="roundRect">
            <a:avLst>
              <a:gd name="adj" fmla="val 17647"/>
            </a:avLst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21282" y="1796288"/>
            <a:ext cx="35491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QuantumCore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367002" y="2143760"/>
            <a:ext cx="3457692" cy="338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C2B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stateVector: ComplexMatrix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2C2B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qubitCount: number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275562" y="2482088"/>
            <a:ext cx="3640572" cy="9144"/>
          </a:xfrm>
          <a:prstGeom prst="line">
            <a:avLst/>
          </a:prstGeom>
          <a:noFill/>
          <a:ln w="12700">
            <a:solidFill>
              <a:srgbClr val="E0DAC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67002" y="2527808"/>
            <a:ext cx="3457692" cy="192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executeTensor(ctx: Context): TensorResult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8144734" y="1778000"/>
            <a:ext cx="3640572" cy="1524000"/>
          </a:xfrm>
          <a:prstGeom prst="roundRect">
            <a:avLst>
              <a:gd name="adj" fmla="val 3600"/>
            </a:avLst>
          </a:prstGeom>
          <a:solidFill>
            <a:srgbClr val="F5F2EB"/>
          </a:solidFill>
          <a:ln w="19050">
            <a:solidFill>
              <a:srgbClr val="E0DAC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44734" y="1778000"/>
            <a:ext cx="3640572" cy="310896"/>
          </a:xfrm>
          <a:prstGeom prst="roundRect">
            <a:avLst>
              <a:gd name="adj" fmla="val 17647"/>
            </a:avLst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90454" y="1796288"/>
            <a:ext cx="35491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DispatchEngine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36174" y="2143760"/>
            <a:ext cx="3457692" cy="192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C2B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kernel: INeuralKernel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144734" y="2335784"/>
            <a:ext cx="3640572" cy="9144"/>
          </a:xfrm>
          <a:prstGeom prst="line">
            <a:avLst/>
          </a:prstGeom>
          <a:noFill/>
          <a:ln w="12700">
            <a:solidFill>
              <a:srgbClr val="E0DAC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36174" y="2381504"/>
            <a:ext cx="3457692" cy="192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schedule(batch: IngestionBatch): void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 flipH="1" flipV="1">
            <a:off x="2226676" y="1778000"/>
            <a:ext cx="3869172" cy="1524000"/>
          </a:xfrm>
          <a:prstGeom prst="line">
            <a:avLst/>
          </a:prstGeom>
          <a:noFill/>
          <a:ln w="19050">
            <a:solidFill>
              <a:srgbClr val="C29B38"/>
            </a:solidFill>
            <a:prstDash val="dash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3704062" y="2430272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 flipH="1" flipV="1">
            <a:off x="2226676" y="1778000"/>
            <a:ext cx="7738344" cy="1524000"/>
          </a:xfrm>
          <a:prstGeom prst="line">
            <a:avLst/>
          </a:prstGeom>
          <a:noFill/>
          <a:ln w="19050">
            <a:solidFill>
              <a:srgbClr val="C29B38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5638648" y="2430272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orchestrates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Quantum Neural Processing &amp; Distributed Visual Intelligence</dc:title>
  <dc:subject>PptxGenJS Presentation</dc:subject>
  <dc:creator>Biagio Scaglia</dc:creator>
  <cp:lastModifiedBy>Biagio Scaglia</cp:lastModifiedBy>
  <cp:revision>1</cp:revision>
  <dcterms:created xsi:type="dcterms:W3CDTF">2026-09-06T10:57:12Z</dcterms:created>
  <dcterms:modified xsi:type="dcterms:W3CDTF">2026-09-06T10:57:12Z</dcterms:modified>
</cp:coreProperties>
</file>