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Ciao a tutti e benvenuti! Sono Biagio Scaglia del corso di Web Dev (classe 25726).
Oggi vi presento Yumia, uno strumento pensato per rivoluzionare il modo in cui creiamo le nostre slide e presentazioni.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Tutti noi abbiamo usato programmi come PowerPoint o Canva. Spesso passiamo ore a spostare caselle di testo col mouse, cercare di allineare i box e sistemare i colori.
Per noi sviluppatori questo è noioso e ci fa perdere un sacco di tempo utile.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L'idea di Yumia è semplicissima: dividere il testo dalla grafica.
Noi ci concentriamo solo su cosa vogliamo comunicare, mentre il programma si occupa di allineare tutto, scegliere i colori giusti e rendere le slide bellissime in automatico.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funzionamento è intuitivo:
1. Apriamo il nostro editor preferito e scriviamo il contenuto in un semplice file di testo;
2. Yumia calcola gli spazi, i contrasti e i margini;
3. In un secondo la presentazione è pronta per essere proiettata o condivisa.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Uno dei vantaggi più grandi: scriviamo il testo una volta sola e Yumia può creare:
1) Una pagina web interattiva per presentare direttamente dal browser;
2) Un vero file PowerPoint con testi modificabili;
3) Un PDF pronto per essere stampato o inviato come dispensa.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Questo è un vero esempio di codice Yumia.
Come potete notare, è chiarissimo: abbiamo una slide, un titolo Hero e una griglia con tre numeri evidenziati.
Non ci sono tag complicati, parentesi difficili o stili da memorizzare.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Yumia mette a disposizione tutti i mattoncini utili: schede colorate, numeri in evidenza, confronti visivi, grafici e migliaia di icone già integrate.
Non c'è bisogno di scaricare immagini o ritagliare icone da internet.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Proprio come quando scriviamo su Word c'è il correttore ortografico, in Yumia c'è un controllore visivo.
Se esageriamo con il testo o scegliamo colori difficili da leggere per il pubblico, Yumia ci suggerisce subito come migliorare la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Oggi usiamo spesso l'Intelligenza Artificiale per aiutarci a creare contenuti.
Se chiediamo all'AI di fare una pagina web con slide, spesso la grafica si rompe.
Con Yumia, l'AI deve solo scrivere frasi semplici: ci pensa poi Yumia a posizionare tutto con ordine e armonia.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sintesi, i tre punti di forza di Yumia sono:
1. Velocità: non perdi tempo con la grafica;
2. Coerenza: tutte le slide sono coordinate tra loro;
3. Semplicità: un solo file di testo facile da gestire e condividere.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progetto è in continua evoluzione.
In futuro puntiamo ad aggiungere nuovi stili grafici, la possibilità di lavorare in gruppo contemporaneamente via web e un'anteprima in tempo reale ancora più fluida.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Siamo arrivati alla fine della presentazione!
Grazie mille a tutti per l'attenzione. Se avete domande, dubbi o curiosità su Yumia e su come funziona, sono felice di rispondervi!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B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15104" y="479552"/>
            <a:ext cx="2761488" cy="237744"/>
          </a:xfrm>
          <a:prstGeom prst="roundRect">
            <a:avLst>
              <a:gd name="adj" fmla="val 61538"/>
            </a:avLst>
          </a:prstGeom>
          <a:solidFill>
            <a:srgbClr val="24283B"/>
          </a:solidFill>
          <a:ln w="19050">
            <a:solidFill>
              <a:srgbClr val="7AA2F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715104" y="479552"/>
            <a:ext cx="276148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AA2F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PRESENTAZIONE PROGETTO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06390" y="808736"/>
            <a:ext cx="11378916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C0CAF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Yumia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06390" y="1247648"/>
            <a:ext cx="11378916" cy="2397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65F8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Creare presentazioni belle e veloci partendo dal semplice testo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06390" y="1701800"/>
            <a:ext cx="3725240" cy="1270000"/>
          </a:xfrm>
          <a:prstGeom prst="roundRect">
            <a:avLst>
              <a:gd name="adj" fmla="val 5760"/>
            </a:avLst>
          </a:prstGeom>
          <a:solidFill>
            <a:srgbClr val="24283B"/>
          </a:solidFill>
          <a:ln w="19050">
            <a:solidFill>
              <a:srgbClr val="7AA2F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24678" y="1738376"/>
            <a:ext cx="54864" cy="1196848"/>
          </a:xfrm>
          <a:prstGeom prst="roundRect">
            <a:avLst>
              <a:gd name="adj" fmla="val 50000"/>
            </a:avLst>
          </a:prstGeom>
          <a:solidFill>
            <a:srgbClr val="7AA2F7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7558" y="1829816"/>
            <a:ext cx="219456" cy="219456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81878" y="1811528"/>
            <a:ext cx="30211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AA2F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1. Scrittura Semplice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584185" y="2235200"/>
            <a:ext cx="3369649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C0CA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Scrivi solo il testo e i concetti, senza perdere ore su margini e coordinate.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4233228" y="1701800"/>
            <a:ext cx="3725240" cy="1270000"/>
          </a:xfrm>
          <a:prstGeom prst="roundRect">
            <a:avLst>
              <a:gd name="adj" fmla="val 5760"/>
            </a:avLst>
          </a:prstGeom>
          <a:solidFill>
            <a:srgbClr val="24283B"/>
          </a:solidFill>
          <a:ln w="19050">
            <a:solidFill>
              <a:srgbClr val="7DCFF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251516" y="1738376"/>
            <a:ext cx="54864" cy="1196848"/>
          </a:xfrm>
          <a:prstGeom prst="roundRect">
            <a:avLst>
              <a:gd name="adj" fmla="val 50000"/>
            </a:avLst>
          </a:prstGeom>
          <a:solidFill>
            <a:srgbClr val="7DCFFF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4396" y="1829816"/>
            <a:ext cx="219456" cy="219456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708716" y="1811528"/>
            <a:ext cx="30211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DC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2. Design Intelligente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4411023" y="2235200"/>
            <a:ext cx="3369649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C0CA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Yumia organizza automaticamente spazi, palette di colori e stili armoniosi.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8060065" y="1701800"/>
            <a:ext cx="3725240" cy="1270000"/>
          </a:xfrm>
          <a:prstGeom prst="roundRect">
            <a:avLst>
              <a:gd name="adj" fmla="val 5760"/>
            </a:avLst>
          </a:prstGeom>
          <a:solidFill>
            <a:srgbClr val="24283B"/>
          </a:solidFill>
          <a:ln w="19050">
            <a:solidFill>
              <a:srgbClr val="9ECE6A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8078353" y="1738376"/>
            <a:ext cx="54864" cy="1196848"/>
          </a:xfrm>
          <a:prstGeom prst="roundRect">
            <a:avLst>
              <a:gd name="adj" fmla="val 50000"/>
            </a:avLst>
          </a:prstGeom>
          <a:solidFill>
            <a:srgbClr val="9ECE6A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61233" y="1829816"/>
            <a:ext cx="219456" cy="219456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535553" y="1811528"/>
            <a:ext cx="30211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ECE6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3. Triplo Formato</a:t>
            </a:r>
            <a:endParaRPr lang="en-US" sz="1600" dirty="0"/>
          </a:p>
        </p:txBody>
      </p:sp>
      <p:sp>
        <p:nvSpPr>
          <p:cNvPr id="20" name="Text 15"/>
          <p:cNvSpPr/>
          <p:nvPr/>
        </p:nvSpPr>
        <p:spPr>
          <a:xfrm>
            <a:off x="8237861" y="2235200"/>
            <a:ext cx="3369649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C0CA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Esportazione istantanea in Sito Web interattivo, PowerPoint nativo e PDF.</a:t>
            </a:r>
            <a:endParaRPr lang="en-US" sz="1300" dirty="0"/>
          </a:p>
        </p:txBody>
      </p:sp>
      <p:sp>
        <p:nvSpPr>
          <p:cNvPr id="21" name="Text 16"/>
          <p:cNvSpPr/>
          <p:nvPr/>
        </p:nvSpPr>
        <p:spPr>
          <a:xfrm>
            <a:off x="457200" y="6492240"/>
            <a:ext cx="1127729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65F8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YUMIA • CORSO WEB DEV 25726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B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6390" y="406400"/>
            <a:ext cx="11378916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7AA2F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Il Problema: Creare Slide è Lento</a:t>
            </a:r>
            <a:endParaRPr lang="en-US" sz="3300" dirty="0"/>
          </a:p>
        </p:txBody>
      </p:sp>
      <p:sp>
        <p:nvSpPr>
          <p:cNvPr id="3" name="Text 1"/>
          <p:cNvSpPr/>
          <p:nvPr/>
        </p:nvSpPr>
        <p:spPr>
          <a:xfrm>
            <a:off x="406390" y="1282700"/>
            <a:ext cx="11378916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0CAF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Cosa non funziona nei programmi tradizionali come PowerPoint o Canva?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06390" y="2019300"/>
            <a:ext cx="5460858" cy="2463800"/>
          </a:xfrm>
          <a:prstGeom prst="roundRect">
            <a:avLst>
              <a:gd name="adj" fmla="val 3711"/>
            </a:avLst>
          </a:prstGeom>
          <a:solidFill>
            <a:srgbClr val="24283B"/>
          </a:solidFill>
          <a:ln w="19050">
            <a:solidFill>
              <a:srgbClr val="2F354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3550" y="2156460"/>
            <a:ext cx="518653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A2F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Come facciamo oggi le slide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324448" y="2019300"/>
            <a:ext cx="5460858" cy="2463800"/>
          </a:xfrm>
          <a:prstGeom prst="roundRect">
            <a:avLst>
              <a:gd name="adj" fmla="val 3711"/>
            </a:avLst>
          </a:prstGeom>
          <a:solidFill>
            <a:srgbClr val="24283B"/>
          </a:solidFill>
          <a:ln w="19050">
            <a:solidFill>
              <a:srgbClr val="2F354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61608" y="2156460"/>
            <a:ext cx="518653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A2F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 problemi di tutti i giorni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903824" y="3059176"/>
            <a:ext cx="384048" cy="384048"/>
          </a:xfrm>
          <a:prstGeom prst="ellipse">
            <a:avLst/>
          </a:prstGeom>
          <a:solidFill>
            <a:srgbClr val="24283B"/>
          </a:solidFill>
          <a:ln w="19050">
            <a:solidFill>
              <a:srgbClr val="7AA2F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03824" y="3059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CAF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1781477" y="2552700"/>
            <a:ext cx="2761488" cy="330200"/>
          </a:xfrm>
          <a:prstGeom prst="roundRect">
            <a:avLst>
              <a:gd name="adj" fmla="val 41538"/>
            </a:avLst>
          </a:prstGeom>
          <a:solidFill>
            <a:srgbClr val="24283B"/>
          </a:solidFill>
          <a:ln w="19050">
            <a:solidFill>
              <a:srgbClr val="E0AF6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781477" y="2552700"/>
            <a:ext cx="2761488" cy="330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0AF6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PROGRAMMI TRADIZIONALI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84185" y="2971800"/>
            <a:ext cx="515607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C0CA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Trasciniamo caselle e forme col mouse per ore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84185" y="3327400"/>
            <a:ext cx="515607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C0CA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I titoli e i margini non sono mai dritti uguali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84185" y="3683000"/>
            <a:ext cx="515607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C0CA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Cambiare un colore richiede di rifare ogni slide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84185" y="4038600"/>
            <a:ext cx="515607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C0CA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File pesanti che non si possono gestire facilmente col codice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799606" y="2552700"/>
            <a:ext cx="2459736" cy="330200"/>
          </a:xfrm>
          <a:prstGeom prst="roundRect">
            <a:avLst>
              <a:gd name="adj" fmla="val 41538"/>
            </a:avLst>
          </a:prstGeom>
          <a:solidFill>
            <a:srgbClr val="24283B"/>
          </a:solidFill>
          <a:ln w="19050">
            <a:solidFill>
              <a:srgbClr val="F7768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99606" y="2552700"/>
            <a:ext cx="2459736" cy="330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7768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PERCHÉ È FRUSTRANTE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451439" y="2971800"/>
            <a:ext cx="515607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C0CA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Perdiamo più tempo sulla grafica che sulle idee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51439" y="3327400"/>
            <a:ext cx="515607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C0CA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Il risultato spesso non sembra professionale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451439" y="3683000"/>
            <a:ext cx="515607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C0CA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Difficile collaborare o riutilizzare il lavoro già fatto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451439" y="4038600"/>
            <a:ext cx="515607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C0CA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Le intelligenze artificiali faticano a creare slide grafiche corrette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57200" y="6492240"/>
            <a:ext cx="1127729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65F8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YUMIA • CORSO WEB DEV 25726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B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6390" y="406400"/>
            <a:ext cx="11378916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7AA2F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 Soluzione: Cos'è Yumia?</a:t>
            </a:r>
            <a:endParaRPr lang="en-US" sz="3300" dirty="0"/>
          </a:p>
        </p:txBody>
      </p:sp>
      <p:sp>
        <p:nvSpPr>
          <p:cNvPr id="3" name="Text 1"/>
          <p:cNvSpPr/>
          <p:nvPr/>
        </p:nvSpPr>
        <p:spPr>
          <a:xfrm>
            <a:off x="406390" y="1282700"/>
            <a:ext cx="11378916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0CAF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Scrivi solo il testo, alla grafica ci pensa il computer!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06390" y="2019300"/>
            <a:ext cx="3725240" cy="1270000"/>
          </a:xfrm>
          <a:prstGeom prst="roundRect">
            <a:avLst>
              <a:gd name="adj" fmla="val 5760"/>
            </a:avLst>
          </a:prstGeom>
          <a:solidFill>
            <a:srgbClr val="24283B"/>
          </a:solidFill>
          <a:ln w="19050">
            <a:solidFill>
              <a:srgbClr val="7AA2F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24678" y="2055876"/>
            <a:ext cx="54864" cy="1196848"/>
          </a:xfrm>
          <a:prstGeom prst="roundRect">
            <a:avLst>
              <a:gd name="adj" fmla="val 50000"/>
            </a:avLst>
          </a:prstGeom>
          <a:solidFill>
            <a:srgbClr val="7AA2F7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7558" y="2147316"/>
            <a:ext cx="219456" cy="21945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81878" y="2129028"/>
            <a:ext cx="30211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AA2F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1. Scrittura Semplice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584185" y="2552700"/>
            <a:ext cx="3369649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C0CA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Scrivi quello che vuoi dire in modo chiaro e pulito, come prendere appunti.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233228" y="2019300"/>
            <a:ext cx="3725240" cy="1270000"/>
          </a:xfrm>
          <a:prstGeom prst="roundRect">
            <a:avLst>
              <a:gd name="adj" fmla="val 5760"/>
            </a:avLst>
          </a:prstGeom>
          <a:solidFill>
            <a:srgbClr val="24283B"/>
          </a:solidFill>
          <a:ln w="19050">
            <a:solidFill>
              <a:srgbClr val="7DCFFF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251516" y="2055876"/>
            <a:ext cx="54864" cy="1196848"/>
          </a:xfrm>
          <a:prstGeom prst="roundRect">
            <a:avLst>
              <a:gd name="adj" fmla="val 50000"/>
            </a:avLst>
          </a:prstGeom>
          <a:solidFill>
            <a:srgbClr val="7DCFFF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4396" y="2147316"/>
            <a:ext cx="219456" cy="21945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08716" y="2129028"/>
            <a:ext cx="30211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DC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2. Grafica Automatica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4411023" y="2552700"/>
            <a:ext cx="3369649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C0CA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Yumia posiziona automaticamente blocchi, colori, font e spazi perfetti.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8060065" y="2019300"/>
            <a:ext cx="3725240" cy="1270000"/>
          </a:xfrm>
          <a:prstGeom prst="roundRect">
            <a:avLst>
              <a:gd name="adj" fmla="val 5760"/>
            </a:avLst>
          </a:prstGeom>
          <a:solidFill>
            <a:srgbClr val="24283B"/>
          </a:solidFill>
          <a:ln w="19050">
            <a:solidFill>
              <a:srgbClr val="9ECE6A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8078353" y="2055876"/>
            <a:ext cx="54864" cy="1196848"/>
          </a:xfrm>
          <a:prstGeom prst="roundRect">
            <a:avLst>
              <a:gd name="adj" fmla="val 50000"/>
            </a:avLst>
          </a:prstGeom>
          <a:solidFill>
            <a:srgbClr val="9ECE6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61233" y="2147316"/>
            <a:ext cx="219456" cy="21945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535553" y="2129028"/>
            <a:ext cx="30211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ECE6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3. Risultato Immediato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8237861" y="2552700"/>
            <a:ext cx="3369649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C0CA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 pochi secondi hai una presentazione pronta, ordinata e moderna.</a:t>
            </a:r>
            <a:endParaRPr lang="en-US" sz="1300" dirty="0"/>
          </a:p>
        </p:txBody>
      </p:sp>
      <p:sp>
        <p:nvSpPr>
          <p:cNvPr id="19" name="Shape 14"/>
          <p:cNvSpPr/>
          <p:nvPr/>
        </p:nvSpPr>
        <p:spPr>
          <a:xfrm>
            <a:off x="406390" y="3467100"/>
            <a:ext cx="11378916" cy="774700"/>
          </a:xfrm>
          <a:prstGeom prst="roundRect">
            <a:avLst>
              <a:gd name="adj" fmla="val 9443"/>
            </a:avLst>
          </a:prstGeom>
          <a:solidFill>
            <a:srgbClr val="24283B"/>
          </a:solidFill>
          <a:ln w="25400">
            <a:solidFill>
              <a:srgbClr val="7DCFFF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9270" y="3613404"/>
            <a:ext cx="201168" cy="201168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845302" y="3613404"/>
            <a:ext cx="107571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DC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L'idea chiave</a:t>
            </a:r>
            <a:endParaRPr lang="en-US" sz="1300" dirty="0"/>
          </a:p>
        </p:txBody>
      </p:sp>
      <p:sp>
        <p:nvSpPr>
          <p:cNvPr id="22" name="Text 16"/>
          <p:cNvSpPr/>
          <p:nvPr/>
        </p:nvSpPr>
        <p:spPr>
          <a:xfrm>
            <a:off x="589270" y="3942588"/>
            <a:ext cx="11013156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0CA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Non diciamo dove mettere ogni singolo pixel: diciamo solo cosa vogliamo mostrare e Yumia trova il modo migliore per disegnarlo.</a:t>
            </a:r>
            <a:endParaRPr lang="en-US" sz="1200" dirty="0"/>
          </a:p>
        </p:txBody>
      </p:sp>
      <p:sp>
        <p:nvSpPr>
          <p:cNvPr id="23" name="Text 17"/>
          <p:cNvSpPr/>
          <p:nvPr/>
        </p:nvSpPr>
        <p:spPr>
          <a:xfrm>
            <a:off x="457200" y="6492240"/>
            <a:ext cx="1127729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65F8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YUMIA • CORSO WEB DEV 25726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B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6390" y="406400"/>
            <a:ext cx="11378916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7AA2F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Come Funziona in Pratica</a:t>
            </a:r>
            <a:endParaRPr lang="en-US" sz="3300" dirty="0"/>
          </a:p>
        </p:txBody>
      </p:sp>
      <p:sp>
        <p:nvSpPr>
          <p:cNvPr id="3" name="Text 1"/>
          <p:cNvSpPr/>
          <p:nvPr/>
        </p:nvSpPr>
        <p:spPr>
          <a:xfrm>
            <a:off x="406390" y="1282700"/>
            <a:ext cx="11378916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0CAF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 percorso semplice e diretto in 3 passaggi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06390" y="2019300"/>
            <a:ext cx="1137891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AA2F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Il percorso da testo a presentazione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878829" y="2800604"/>
            <a:ext cx="240400" cy="9144"/>
          </a:xfrm>
          <a:prstGeom prst="line">
            <a:avLst/>
          </a:prstGeom>
          <a:noFill/>
          <a:ln w="25400">
            <a:solidFill>
              <a:srgbClr val="7DC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9228" y="2800604"/>
            <a:ext cx="9144" cy="9144"/>
          </a:xfrm>
          <a:prstGeom prst="line">
            <a:avLst/>
          </a:prstGeom>
          <a:noFill/>
          <a:ln w="25400">
            <a:solidFill>
              <a:srgbClr val="7DC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119228" y="2800604"/>
            <a:ext cx="240400" cy="9144"/>
          </a:xfrm>
          <a:prstGeom prst="line">
            <a:avLst/>
          </a:prstGeom>
          <a:noFill/>
          <a:ln w="25400">
            <a:solidFill>
              <a:srgbClr val="7DCFFF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7832067" y="2800604"/>
            <a:ext cx="240400" cy="9144"/>
          </a:xfrm>
          <a:prstGeom prst="line">
            <a:avLst/>
          </a:prstGeom>
          <a:noFill/>
          <a:ln w="25400">
            <a:solidFill>
              <a:srgbClr val="7DC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072467" y="2800604"/>
            <a:ext cx="9144" cy="9144"/>
          </a:xfrm>
          <a:prstGeom prst="line">
            <a:avLst/>
          </a:prstGeom>
          <a:noFill/>
          <a:ln w="25400">
            <a:solidFill>
              <a:srgbClr val="7DC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072467" y="2800604"/>
            <a:ext cx="240400" cy="9144"/>
          </a:xfrm>
          <a:prstGeom prst="line">
            <a:avLst/>
          </a:prstGeom>
          <a:noFill/>
          <a:ln w="25400">
            <a:solidFill>
              <a:srgbClr val="7DCFFF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406390" y="2533493"/>
            <a:ext cx="3472439" cy="534221"/>
          </a:xfrm>
          <a:prstGeom prst="roundRect">
            <a:avLst>
              <a:gd name="adj" fmla="val 13693"/>
            </a:avLst>
          </a:prstGeom>
          <a:solidFill>
            <a:srgbClr val="24283B"/>
          </a:solidFill>
          <a:ln w="25400">
            <a:solidFill>
              <a:srgbClr val="7AA2F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9542" y="2588357"/>
            <a:ext cx="3326135" cy="4244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CAF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1. Scrivi il Testo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359628" y="2533493"/>
            <a:ext cx="3472439" cy="534221"/>
          </a:xfrm>
          <a:prstGeom prst="roundRect">
            <a:avLst>
              <a:gd name="adj" fmla="val 13693"/>
            </a:avLst>
          </a:prstGeom>
          <a:solidFill>
            <a:srgbClr val="24283B"/>
          </a:solidFill>
          <a:ln w="25400">
            <a:solidFill>
              <a:srgbClr val="7DC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432780" y="2588357"/>
            <a:ext cx="3326135" cy="4244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CAF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2. Yumia Organizza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312866" y="2533493"/>
            <a:ext cx="3472439" cy="534221"/>
          </a:xfrm>
          <a:prstGeom prst="roundRect">
            <a:avLst>
              <a:gd name="adj" fmla="val 13693"/>
            </a:avLst>
          </a:prstGeom>
          <a:solidFill>
            <a:srgbClr val="24283B"/>
          </a:solidFill>
          <a:ln w="25400">
            <a:solidFill>
              <a:srgbClr val="9ECE6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86018" y="2588357"/>
            <a:ext cx="3326135" cy="4244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CAF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3. Presentazione Pronta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06390" y="3467100"/>
            <a:ext cx="11378916" cy="774700"/>
          </a:xfrm>
          <a:prstGeom prst="roundRect">
            <a:avLst>
              <a:gd name="adj" fmla="val 9443"/>
            </a:avLst>
          </a:prstGeom>
          <a:solidFill>
            <a:srgbClr val="24283B"/>
          </a:solidFill>
          <a:ln w="25400">
            <a:solidFill>
              <a:srgbClr val="9ECE6A"/>
            </a:solidFill>
            <a:prstDash val="solid"/>
          </a:ln>
        </p:spPr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9270" y="3613404"/>
            <a:ext cx="201168" cy="201168"/>
          </a:xfrm>
          <a:prstGeom prst="rect">
            <a:avLst/>
          </a:prstGeom>
        </p:spPr>
      </p:pic>
      <p:sp>
        <p:nvSpPr>
          <p:cNvPr id="19" name="Text 16"/>
          <p:cNvSpPr/>
          <p:nvPr/>
        </p:nvSpPr>
        <p:spPr>
          <a:xfrm>
            <a:off x="845302" y="3613404"/>
            <a:ext cx="107571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ECE6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Facile e veloce per tutti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589270" y="3942588"/>
            <a:ext cx="11013156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0CA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Non serve essere grafici o esperti di design: basta scrivere poche righe per ottenere un lavoro pulito ed elegante.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457200" y="6492240"/>
            <a:ext cx="1127729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65F8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YUMIA • CORSO WEB DEV 25726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B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6390" y="406400"/>
            <a:ext cx="11378916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7AA2F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 Solo File, Tre Formati</a:t>
            </a:r>
            <a:endParaRPr lang="en-US" sz="3300" dirty="0"/>
          </a:p>
        </p:txBody>
      </p:sp>
      <p:sp>
        <p:nvSpPr>
          <p:cNvPr id="3" name="Text 1"/>
          <p:cNvSpPr/>
          <p:nvPr/>
        </p:nvSpPr>
        <p:spPr>
          <a:xfrm>
            <a:off x="406390" y="1282700"/>
            <a:ext cx="11378916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0CAF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 una sola pagina di testo ottieni subito 3 risultati diversi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06390" y="2019300"/>
            <a:ext cx="3725240" cy="1727200"/>
          </a:xfrm>
          <a:prstGeom prst="roundRect">
            <a:avLst>
              <a:gd name="adj" fmla="val 4235"/>
            </a:avLst>
          </a:prstGeom>
          <a:solidFill>
            <a:srgbClr val="24283B"/>
          </a:solidFill>
          <a:ln w="19050">
            <a:solidFill>
              <a:srgbClr val="7AA2F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24678" y="2055876"/>
            <a:ext cx="54864" cy="1654048"/>
          </a:xfrm>
          <a:prstGeom prst="roundRect">
            <a:avLst>
              <a:gd name="adj" fmla="val 50000"/>
            </a:avLst>
          </a:prstGeom>
          <a:solidFill>
            <a:srgbClr val="7AA2F7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7558" y="2147316"/>
            <a:ext cx="219456" cy="21945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81878" y="2129028"/>
            <a:ext cx="30211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AA2F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1. Sito Web Interattivo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584185" y="2552700"/>
            <a:ext cx="3369649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C0CA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Si apre direttamente nel browser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84185" y="2889250"/>
            <a:ext cx="3369649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C0CA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Navigazione con frecce da tastiera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84185" y="3225800"/>
            <a:ext cx="3369649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C0CA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Schermo intero e vista con le note per chi parla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4233228" y="2019300"/>
            <a:ext cx="3725240" cy="1727200"/>
          </a:xfrm>
          <a:prstGeom prst="roundRect">
            <a:avLst>
              <a:gd name="adj" fmla="val 4235"/>
            </a:avLst>
          </a:prstGeom>
          <a:solidFill>
            <a:srgbClr val="24283B"/>
          </a:solidFill>
          <a:ln w="19050">
            <a:solidFill>
              <a:srgbClr val="7DCFF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251516" y="2055876"/>
            <a:ext cx="54864" cy="1654048"/>
          </a:xfrm>
          <a:prstGeom prst="roundRect">
            <a:avLst>
              <a:gd name="adj" fmla="val 50000"/>
            </a:avLst>
          </a:prstGeom>
          <a:solidFill>
            <a:srgbClr val="7DCFFF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4396" y="2147316"/>
            <a:ext cx="219456" cy="219456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708716" y="2129028"/>
            <a:ext cx="30211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DC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2. PowerPoint (.pptx)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4411023" y="2552700"/>
            <a:ext cx="3369649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C0CA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File standard di PowerPoint</a:t>
            </a:r>
            <a:endParaRPr lang="en-US" sz="1300" dirty="0"/>
          </a:p>
        </p:txBody>
      </p:sp>
      <p:sp>
        <p:nvSpPr>
          <p:cNvPr id="16" name="Text 12"/>
          <p:cNvSpPr/>
          <p:nvPr/>
        </p:nvSpPr>
        <p:spPr>
          <a:xfrm>
            <a:off x="4411023" y="2889250"/>
            <a:ext cx="3369649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C0CA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Caselle di testo e forme modificabili</a:t>
            </a:r>
            <a:endParaRPr lang="en-US" sz="1300" dirty="0"/>
          </a:p>
        </p:txBody>
      </p:sp>
      <p:sp>
        <p:nvSpPr>
          <p:cNvPr id="17" name="Text 13"/>
          <p:cNvSpPr/>
          <p:nvPr/>
        </p:nvSpPr>
        <p:spPr>
          <a:xfrm>
            <a:off x="4411023" y="3225800"/>
            <a:ext cx="3369649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C0CA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Perfetto per colleghi o clienti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8060065" y="2019300"/>
            <a:ext cx="3725240" cy="1727200"/>
          </a:xfrm>
          <a:prstGeom prst="roundRect">
            <a:avLst>
              <a:gd name="adj" fmla="val 4235"/>
            </a:avLst>
          </a:prstGeom>
          <a:solidFill>
            <a:srgbClr val="24283B"/>
          </a:solidFill>
          <a:ln w="19050">
            <a:solidFill>
              <a:srgbClr val="9ECE6A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8078353" y="2055876"/>
            <a:ext cx="54864" cy="1654048"/>
          </a:xfrm>
          <a:prstGeom prst="roundRect">
            <a:avLst>
              <a:gd name="adj" fmla="val 50000"/>
            </a:avLst>
          </a:prstGeom>
          <a:solidFill>
            <a:srgbClr val="9ECE6A"/>
          </a:solidFill>
          <a:ln/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61233" y="2147316"/>
            <a:ext cx="219456" cy="219456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8535553" y="2129028"/>
            <a:ext cx="30211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ECE6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3. Documento PDF</a:t>
            </a:r>
            <a:endParaRPr lang="en-US" sz="1600" dirty="0"/>
          </a:p>
        </p:txBody>
      </p:sp>
      <p:sp>
        <p:nvSpPr>
          <p:cNvPr id="22" name="Text 17"/>
          <p:cNvSpPr/>
          <p:nvPr/>
        </p:nvSpPr>
        <p:spPr>
          <a:xfrm>
            <a:off x="8237861" y="2552700"/>
            <a:ext cx="3369649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C0CA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Grafica fissa ad alta qualità</a:t>
            </a:r>
            <a:endParaRPr lang="en-US" sz="1300" dirty="0"/>
          </a:p>
        </p:txBody>
      </p:sp>
      <p:sp>
        <p:nvSpPr>
          <p:cNvPr id="23" name="Text 18"/>
          <p:cNvSpPr/>
          <p:nvPr/>
        </p:nvSpPr>
        <p:spPr>
          <a:xfrm>
            <a:off x="8237861" y="2889250"/>
            <a:ext cx="3369649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C0CA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Ottimo per stampare o inviare via email</a:t>
            </a:r>
            <a:endParaRPr lang="en-US" sz="1300" dirty="0"/>
          </a:p>
        </p:txBody>
      </p:sp>
      <p:sp>
        <p:nvSpPr>
          <p:cNvPr id="24" name="Text 19"/>
          <p:cNvSpPr/>
          <p:nvPr/>
        </p:nvSpPr>
        <p:spPr>
          <a:xfrm>
            <a:off x="8237861" y="3225800"/>
            <a:ext cx="3369649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C0CA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Si legge bene su qualsiasi smartphone o PC</a:t>
            </a:r>
            <a:endParaRPr lang="en-US" sz="1300" dirty="0"/>
          </a:p>
        </p:txBody>
      </p:sp>
      <p:sp>
        <p:nvSpPr>
          <p:cNvPr id="25" name="Text 20"/>
          <p:cNvSpPr/>
          <p:nvPr/>
        </p:nvSpPr>
        <p:spPr>
          <a:xfrm>
            <a:off x="457200" y="6492240"/>
            <a:ext cx="1127729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65F8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YUMIA • CORSO WEB DEV 25726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B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6390" y="406400"/>
            <a:ext cx="11378916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7AA2F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Esempio Pratico di Codice</a:t>
            </a:r>
            <a:endParaRPr lang="en-US" sz="3300" dirty="0"/>
          </a:p>
        </p:txBody>
      </p:sp>
      <p:sp>
        <p:nvSpPr>
          <p:cNvPr id="3" name="Text 1"/>
          <p:cNvSpPr/>
          <p:nvPr/>
        </p:nvSpPr>
        <p:spPr>
          <a:xfrm>
            <a:off x="406390" y="1282700"/>
            <a:ext cx="11378916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0CAF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Guardate quanto è facile e leggibile il testo!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06390" y="2019300"/>
            <a:ext cx="6160616" cy="1828800"/>
          </a:xfrm>
          <a:prstGeom prst="roundRect">
            <a:avLst>
              <a:gd name="adj" fmla="val 4000"/>
            </a:avLst>
          </a:prstGeom>
          <a:solidFill>
            <a:srgbClr val="16161E"/>
          </a:solidFill>
          <a:ln w="19050">
            <a:solidFill>
              <a:srgbClr val="2F354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3550" y="2129028"/>
            <a:ext cx="91440" cy="91440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0710" y="2129028"/>
            <a:ext cx="91440" cy="9144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17870" y="2129028"/>
            <a:ext cx="91440" cy="9144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07558" y="2348484"/>
            <a:ext cx="5758280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0CA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slide "La mia presentazione"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0CA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hero title="Yumia" subtitle="Progetto Web Dev"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0CA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grid columns=3 gap=20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0CA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metric "1" label="File sorgente"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0CA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metric "3" label="Formati generati"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0CA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metric "0" label="Fatica grafica"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744801" y="2019300"/>
            <a:ext cx="5040504" cy="2063750"/>
          </a:xfrm>
          <a:prstGeom prst="roundRect">
            <a:avLst>
              <a:gd name="adj" fmla="val 3545"/>
            </a:avLst>
          </a:prstGeom>
          <a:solidFill>
            <a:srgbClr val="24283B"/>
          </a:solidFill>
          <a:ln w="19050">
            <a:solidFill>
              <a:srgbClr val="7AA2F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763089" y="2055876"/>
            <a:ext cx="54864" cy="1990598"/>
          </a:xfrm>
          <a:prstGeom prst="roundRect">
            <a:avLst>
              <a:gd name="adj" fmla="val 50000"/>
            </a:avLst>
          </a:prstGeom>
          <a:solidFill>
            <a:srgbClr val="7AA2F7"/>
          </a:solidFill>
          <a:ln/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5969" y="2147316"/>
            <a:ext cx="219456" cy="219456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7220289" y="2129028"/>
            <a:ext cx="433641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AA2F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Perché è comodo?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6922597" y="2552700"/>
            <a:ext cx="4684913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C0CA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Si legge come una normale lista ordinata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6922597" y="2889250"/>
            <a:ext cx="4684913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C0CA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Nessun codice complicato o simboli strani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6922597" y="3225800"/>
            <a:ext cx="4684913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C0CA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Se vuoi cambiare una parola, ci metti 2 secondi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6922597" y="3562350"/>
            <a:ext cx="4684913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C0CA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Si salva su GitHub come qualsiasi progetto web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457200" y="6492240"/>
            <a:ext cx="1127729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65F8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YUMIA • CORSO WEB DEV 25726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B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6390" y="406400"/>
            <a:ext cx="11378916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7AA2F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 Componenti Pronti all'Uso</a:t>
            </a:r>
            <a:endParaRPr lang="en-US" sz="3300" dirty="0"/>
          </a:p>
        </p:txBody>
      </p:sp>
      <p:sp>
        <p:nvSpPr>
          <p:cNvPr id="3" name="Text 1"/>
          <p:cNvSpPr/>
          <p:nvPr/>
        </p:nvSpPr>
        <p:spPr>
          <a:xfrm>
            <a:off x="406390" y="1282700"/>
            <a:ext cx="11378916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0CAF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Tutto quello che serve per spiegare bene un argomento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06390" y="2019300"/>
            <a:ext cx="3725240" cy="1270000"/>
          </a:xfrm>
          <a:prstGeom prst="roundRect">
            <a:avLst>
              <a:gd name="adj" fmla="val 5760"/>
            </a:avLst>
          </a:prstGeom>
          <a:solidFill>
            <a:srgbClr val="24283B"/>
          </a:solidFill>
          <a:ln w="19050">
            <a:solidFill>
              <a:srgbClr val="7AA2F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24678" y="2055876"/>
            <a:ext cx="54864" cy="1196848"/>
          </a:xfrm>
          <a:prstGeom prst="roundRect">
            <a:avLst>
              <a:gd name="adj" fmla="val 50000"/>
            </a:avLst>
          </a:prstGeom>
          <a:solidFill>
            <a:srgbClr val="7AA2F7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7558" y="2147316"/>
            <a:ext cx="219456" cy="21945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81878" y="2129028"/>
            <a:ext cx="30211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AA2F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Schede e Colonne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584185" y="2552700"/>
            <a:ext cx="3369649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C0CA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 dividere i punti chiave ed evidenziare i concetti importanti.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233228" y="2019300"/>
            <a:ext cx="3725240" cy="1270000"/>
          </a:xfrm>
          <a:prstGeom prst="roundRect">
            <a:avLst>
              <a:gd name="adj" fmla="val 5760"/>
            </a:avLst>
          </a:prstGeom>
          <a:solidFill>
            <a:srgbClr val="24283B"/>
          </a:solidFill>
          <a:ln w="19050">
            <a:solidFill>
              <a:srgbClr val="7DCFFF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251516" y="2055876"/>
            <a:ext cx="54864" cy="1196848"/>
          </a:xfrm>
          <a:prstGeom prst="roundRect">
            <a:avLst>
              <a:gd name="adj" fmla="val 50000"/>
            </a:avLst>
          </a:prstGeom>
          <a:solidFill>
            <a:srgbClr val="7DCFFF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4396" y="2147316"/>
            <a:ext cx="219456" cy="21945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08716" y="2129028"/>
            <a:ext cx="30211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DC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Numeri e Statistiche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4411023" y="2552700"/>
            <a:ext cx="3369649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C0CA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Grandi numeri con etichette per mostrare subito dati importanti.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8060065" y="2019300"/>
            <a:ext cx="3725240" cy="1270000"/>
          </a:xfrm>
          <a:prstGeom prst="roundRect">
            <a:avLst>
              <a:gd name="adj" fmla="val 5760"/>
            </a:avLst>
          </a:prstGeom>
          <a:solidFill>
            <a:srgbClr val="24283B"/>
          </a:solidFill>
          <a:ln w="19050">
            <a:solidFill>
              <a:srgbClr val="E0AF68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8078353" y="2055876"/>
            <a:ext cx="54864" cy="1196848"/>
          </a:xfrm>
          <a:prstGeom prst="roundRect">
            <a:avLst>
              <a:gd name="adj" fmla="val 50000"/>
            </a:avLst>
          </a:prstGeom>
          <a:solidFill>
            <a:srgbClr val="E0AF68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61233" y="2147316"/>
            <a:ext cx="219456" cy="21945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535553" y="2129028"/>
            <a:ext cx="30211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0AF6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Schemi e Flussi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8237861" y="2552700"/>
            <a:ext cx="3369649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C0CA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Frecce e passaggi chiari per spiegare come funziona un processo.</a:t>
            </a:r>
            <a:endParaRPr lang="en-US" sz="1300" dirty="0"/>
          </a:p>
        </p:txBody>
      </p:sp>
      <p:sp>
        <p:nvSpPr>
          <p:cNvPr id="19" name="Shape 14"/>
          <p:cNvSpPr/>
          <p:nvPr/>
        </p:nvSpPr>
        <p:spPr>
          <a:xfrm>
            <a:off x="406390" y="3390900"/>
            <a:ext cx="3725240" cy="1270000"/>
          </a:xfrm>
          <a:prstGeom prst="roundRect">
            <a:avLst>
              <a:gd name="adj" fmla="val 5760"/>
            </a:avLst>
          </a:prstGeom>
          <a:solidFill>
            <a:srgbClr val="24283B"/>
          </a:solidFill>
          <a:ln w="19050">
            <a:solidFill>
              <a:srgbClr val="7DCFFF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424678" y="3427476"/>
            <a:ext cx="54864" cy="1196848"/>
          </a:xfrm>
          <a:prstGeom prst="roundRect">
            <a:avLst>
              <a:gd name="adj" fmla="val 50000"/>
            </a:avLst>
          </a:prstGeom>
          <a:solidFill>
            <a:srgbClr val="7DCFFF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7558" y="3518916"/>
            <a:ext cx="219456" cy="219456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881878" y="3500628"/>
            <a:ext cx="30211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DC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Confronti a Due Lati</a:t>
            </a:r>
            <a:endParaRPr lang="en-US" sz="1600" dirty="0"/>
          </a:p>
        </p:txBody>
      </p:sp>
      <p:sp>
        <p:nvSpPr>
          <p:cNvPr id="23" name="Text 17"/>
          <p:cNvSpPr/>
          <p:nvPr/>
        </p:nvSpPr>
        <p:spPr>
          <a:xfrm>
            <a:off x="584185" y="3924300"/>
            <a:ext cx="3369649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C0CA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Perfetti per mettere a paragone due idee (Prima vs Dopo).</a:t>
            </a:r>
            <a:endParaRPr lang="en-US" sz="1300" dirty="0"/>
          </a:p>
        </p:txBody>
      </p:sp>
      <p:sp>
        <p:nvSpPr>
          <p:cNvPr id="24" name="Shape 18"/>
          <p:cNvSpPr/>
          <p:nvPr/>
        </p:nvSpPr>
        <p:spPr>
          <a:xfrm>
            <a:off x="4233228" y="3390900"/>
            <a:ext cx="3725240" cy="1270000"/>
          </a:xfrm>
          <a:prstGeom prst="roundRect">
            <a:avLst>
              <a:gd name="adj" fmla="val 5760"/>
            </a:avLst>
          </a:prstGeom>
          <a:solidFill>
            <a:srgbClr val="24283B"/>
          </a:solidFill>
          <a:ln w="19050">
            <a:solidFill>
              <a:srgbClr val="9ECE6A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4251516" y="3427476"/>
            <a:ext cx="54864" cy="1196848"/>
          </a:xfrm>
          <a:prstGeom prst="roundRect">
            <a:avLst>
              <a:gd name="adj" fmla="val 50000"/>
            </a:avLst>
          </a:prstGeom>
          <a:solidFill>
            <a:srgbClr val="9ECE6A"/>
          </a:solidFill>
          <a:ln/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34396" y="3518916"/>
            <a:ext cx="219456" cy="219456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4708716" y="3500628"/>
            <a:ext cx="30211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ECE6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Tabelle e Liste</a:t>
            </a:r>
            <a:endParaRPr lang="en-US" sz="1600" dirty="0"/>
          </a:p>
        </p:txBody>
      </p:sp>
      <p:sp>
        <p:nvSpPr>
          <p:cNvPr id="28" name="Text 21"/>
          <p:cNvSpPr/>
          <p:nvPr/>
        </p:nvSpPr>
        <p:spPr>
          <a:xfrm>
            <a:off x="4411023" y="3924300"/>
            <a:ext cx="3369649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C0CA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 elenchi ordinati di informazioni e dati di sintesi.</a:t>
            </a:r>
            <a:endParaRPr lang="en-US" sz="1300" dirty="0"/>
          </a:p>
        </p:txBody>
      </p:sp>
      <p:sp>
        <p:nvSpPr>
          <p:cNvPr id="29" name="Shape 22"/>
          <p:cNvSpPr/>
          <p:nvPr/>
        </p:nvSpPr>
        <p:spPr>
          <a:xfrm>
            <a:off x="8060065" y="3390900"/>
            <a:ext cx="3725240" cy="1270000"/>
          </a:xfrm>
          <a:prstGeom prst="roundRect">
            <a:avLst>
              <a:gd name="adj" fmla="val 5760"/>
            </a:avLst>
          </a:prstGeom>
          <a:solidFill>
            <a:srgbClr val="24283B"/>
          </a:solidFill>
          <a:ln w="19050">
            <a:solidFill>
              <a:srgbClr val="F7768E"/>
            </a:solidFill>
            <a:prstDash val="solid"/>
          </a:ln>
        </p:spPr>
      </p:sp>
      <p:sp>
        <p:nvSpPr>
          <p:cNvPr id="30" name="Shape 23"/>
          <p:cNvSpPr/>
          <p:nvPr/>
        </p:nvSpPr>
        <p:spPr>
          <a:xfrm>
            <a:off x="8078353" y="3427476"/>
            <a:ext cx="54864" cy="1196848"/>
          </a:xfrm>
          <a:prstGeom prst="roundRect">
            <a:avLst>
              <a:gd name="adj" fmla="val 50000"/>
            </a:avLst>
          </a:prstGeom>
          <a:solidFill>
            <a:srgbClr val="F7768E"/>
          </a:solidFill>
          <a:ln/>
        </p:spPr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61233" y="3518916"/>
            <a:ext cx="219456" cy="219456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8535553" y="3500628"/>
            <a:ext cx="30211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7768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Icone Integrate</a:t>
            </a:r>
            <a:endParaRPr lang="en-US" sz="1600" dirty="0"/>
          </a:p>
        </p:txBody>
      </p:sp>
      <p:sp>
        <p:nvSpPr>
          <p:cNvPr id="33" name="Text 25"/>
          <p:cNvSpPr/>
          <p:nvPr/>
        </p:nvSpPr>
        <p:spPr>
          <a:xfrm>
            <a:off x="8237861" y="3924300"/>
            <a:ext cx="3369649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C0CA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Migliaia di icone moderne pronte senza dover scaricare immagini.</a:t>
            </a:r>
            <a:endParaRPr lang="en-US" sz="1300" dirty="0"/>
          </a:p>
        </p:txBody>
      </p:sp>
      <p:sp>
        <p:nvSpPr>
          <p:cNvPr id="34" name="Text 26"/>
          <p:cNvSpPr/>
          <p:nvPr/>
        </p:nvSpPr>
        <p:spPr>
          <a:xfrm>
            <a:off x="457200" y="6492240"/>
            <a:ext cx="1127729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65F8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YUMIA • CORSO WEB DEV 25726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B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6390" y="406400"/>
            <a:ext cx="11378916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7AA2F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Il Controllo Qualità Automatico</a:t>
            </a:r>
            <a:endParaRPr lang="en-US" sz="3300" dirty="0"/>
          </a:p>
        </p:txBody>
      </p:sp>
      <p:sp>
        <p:nvSpPr>
          <p:cNvPr id="3" name="Text 1"/>
          <p:cNvSpPr/>
          <p:nvPr/>
        </p:nvSpPr>
        <p:spPr>
          <a:xfrm>
            <a:off x="406390" y="1282700"/>
            <a:ext cx="11378916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0CAF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 assistente che ti avvisa se la slide è poco leggibile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06390" y="2019300"/>
            <a:ext cx="5600560" cy="2063750"/>
          </a:xfrm>
          <a:prstGeom prst="roundRect">
            <a:avLst>
              <a:gd name="adj" fmla="val 3545"/>
            </a:avLst>
          </a:prstGeom>
          <a:solidFill>
            <a:srgbClr val="24283B"/>
          </a:solidFill>
          <a:ln w="19050">
            <a:solidFill>
              <a:srgbClr val="7AA2F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24678" y="2055876"/>
            <a:ext cx="54864" cy="1990598"/>
          </a:xfrm>
          <a:prstGeom prst="roundRect">
            <a:avLst>
              <a:gd name="adj" fmla="val 50000"/>
            </a:avLst>
          </a:prstGeom>
          <a:solidFill>
            <a:srgbClr val="7AA2F7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7558" y="2147316"/>
            <a:ext cx="219456" cy="21945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81878" y="2129028"/>
            <a:ext cx="48964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AA2F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Cosa controlla Yumia per te?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584185" y="2552700"/>
            <a:ext cx="5244969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C0CA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Se c'è troppo testo e la slide diventa pesante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84185" y="2889250"/>
            <a:ext cx="5244969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C0CA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Se il colore del testo si legge bene sullo sfondo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84185" y="3225800"/>
            <a:ext cx="5244969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C0CA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Se gli elementi sono troppo vicini ai bordi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584185" y="3562350"/>
            <a:ext cx="5244969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C0CA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Se ci sono slide vuote o incomplete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6184745" y="2019300"/>
            <a:ext cx="5600560" cy="1606550"/>
          </a:xfrm>
          <a:prstGeom prst="roundRect">
            <a:avLst>
              <a:gd name="adj" fmla="val 4553"/>
            </a:avLst>
          </a:prstGeom>
          <a:solidFill>
            <a:srgbClr val="24283B"/>
          </a:solidFill>
          <a:ln w="19050">
            <a:solidFill>
              <a:srgbClr val="E0AF6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203033" y="2055876"/>
            <a:ext cx="54864" cy="1533398"/>
          </a:xfrm>
          <a:prstGeom prst="roundRect">
            <a:avLst>
              <a:gd name="adj" fmla="val 50000"/>
            </a:avLst>
          </a:prstGeom>
          <a:solidFill>
            <a:srgbClr val="E0AF68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85913" y="2147316"/>
            <a:ext cx="219456" cy="219456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6660233" y="2129028"/>
            <a:ext cx="48964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0AF6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Esempio di Avviso Semplice</a:t>
            </a:r>
            <a:endParaRPr lang="en-US" sz="1600" dirty="0"/>
          </a:p>
        </p:txBody>
      </p:sp>
      <p:sp>
        <p:nvSpPr>
          <p:cNvPr id="16" name="Text 12"/>
          <p:cNvSpPr/>
          <p:nvPr/>
        </p:nvSpPr>
        <p:spPr>
          <a:xfrm>
            <a:off x="6362541" y="2552700"/>
            <a:ext cx="5244969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C0CA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Avviso: Hai inserito troppo testo in questa slide!</a:t>
            </a:r>
            <a:endParaRPr lang="en-US" sz="1300" dirty="0"/>
          </a:p>
        </p:txBody>
      </p:sp>
      <p:sp>
        <p:nvSpPr>
          <p:cNvPr id="17" name="Text 13"/>
          <p:cNvSpPr/>
          <p:nvPr/>
        </p:nvSpPr>
        <p:spPr>
          <a:xfrm>
            <a:off x="6362541" y="2889250"/>
            <a:ext cx="5244969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C0CA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Suggerimento: Dividi il contenuto in due schede o in una seconda slide per renderla più chiara.</a:t>
            </a:r>
            <a:endParaRPr lang="en-US" sz="1300" dirty="0"/>
          </a:p>
        </p:txBody>
      </p:sp>
      <p:sp>
        <p:nvSpPr>
          <p:cNvPr id="18" name="Text 14"/>
          <p:cNvSpPr/>
          <p:nvPr/>
        </p:nvSpPr>
        <p:spPr>
          <a:xfrm>
            <a:off x="457200" y="6492240"/>
            <a:ext cx="1127729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65F8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YUMIA • CORSO WEB DEV 25726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1B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6390" y="406400"/>
            <a:ext cx="11378916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7AA2F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Yumia e l'Intelligenza Artificiale</a:t>
            </a:r>
            <a:endParaRPr lang="en-US" sz="3300" dirty="0"/>
          </a:p>
        </p:txBody>
      </p:sp>
      <p:sp>
        <p:nvSpPr>
          <p:cNvPr id="3" name="Text 1"/>
          <p:cNvSpPr/>
          <p:nvPr/>
        </p:nvSpPr>
        <p:spPr>
          <a:xfrm>
            <a:off x="406390" y="1282700"/>
            <a:ext cx="11378916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0CAF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 sintassi perfetta da far scrivere agli assistenti AI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06390" y="2019300"/>
            <a:ext cx="5460858" cy="2108200"/>
          </a:xfrm>
          <a:prstGeom prst="roundRect">
            <a:avLst>
              <a:gd name="adj" fmla="val 4337"/>
            </a:avLst>
          </a:prstGeom>
          <a:solidFill>
            <a:srgbClr val="24283B"/>
          </a:solidFill>
          <a:ln w="19050">
            <a:solidFill>
              <a:srgbClr val="2F354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3550" y="2156460"/>
            <a:ext cx="518653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A2F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Chiedere all'AI codice normale (HTML/CSS)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324448" y="2019300"/>
            <a:ext cx="5460858" cy="2108200"/>
          </a:xfrm>
          <a:prstGeom prst="roundRect">
            <a:avLst>
              <a:gd name="adj" fmla="val 4337"/>
            </a:avLst>
          </a:prstGeom>
          <a:solidFill>
            <a:srgbClr val="24283B"/>
          </a:solidFill>
          <a:ln w="19050">
            <a:solidFill>
              <a:srgbClr val="2F354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61608" y="2156460"/>
            <a:ext cx="518653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A2F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Chiedere all'AI testo Yumia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903824" y="2881376"/>
            <a:ext cx="384048" cy="384048"/>
          </a:xfrm>
          <a:prstGeom prst="ellipse">
            <a:avLst/>
          </a:prstGeom>
          <a:solidFill>
            <a:srgbClr val="24283B"/>
          </a:solidFill>
          <a:ln w="19050">
            <a:solidFill>
              <a:srgbClr val="7AA2F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03824" y="28813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CAF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133521" y="2552700"/>
            <a:ext cx="2057400" cy="330200"/>
          </a:xfrm>
          <a:prstGeom prst="roundRect">
            <a:avLst>
              <a:gd name="adj" fmla="val 41538"/>
            </a:avLst>
          </a:prstGeom>
          <a:solidFill>
            <a:srgbClr val="24283B"/>
          </a:solidFill>
          <a:ln w="19050">
            <a:solidFill>
              <a:srgbClr val="F7768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133521" y="2552700"/>
            <a:ext cx="2057400" cy="330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7768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SPESSO SI ROMPE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84185" y="2971800"/>
            <a:ext cx="515607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C0CA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Layout sballati e testi che si sovrappongono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84185" y="3327400"/>
            <a:ext cx="515607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C0CA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Troppe righe di codice difficili da correggere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84185" y="3683000"/>
            <a:ext cx="515607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C0CA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Colori e font spesso poco armoniosi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000774" y="2552700"/>
            <a:ext cx="2057400" cy="330200"/>
          </a:xfrm>
          <a:prstGeom prst="roundRect">
            <a:avLst>
              <a:gd name="adj" fmla="val 41538"/>
            </a:avLst>
          </a:prstGeom>
          <a:solidFill>
            <a:srgbClr val="24283B"/>
          </a:solidFill>
          <a:ln w="19050">
            <a:solidFill>
              <a:srgbClr val="9ECE6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000774" y="2552700"/>
            <a:ext cx="2057400" cy="330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ECE6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SEMPRE PERFETTO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451439" y="2971800"/>
            <a:ext cx="515607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C0CA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L'AI scrive poche righe semplici e ordinate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451439" y="3327400"/>
            <a:ext cx="515607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C0CA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Yumia garantisce che la grafica sia perfetta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51439" y="3683000"/>
            <a:ext cx="515607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C0CA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Se vuoi cambiare qualcosa, lo fai in un attimo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57200" y="6492240"/>
            <a:ext cx="1127729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65F8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YUMIA • CORSO WEB DEV 25726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1B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6390" y="406400"/>
            <a:ext cx="11378916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7AA2F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 Grandi Vantaggi di Yumia</a:t>
            </a:r>
            <a:endParaRPr lang="en-US" sz="3300" dirty="0"/>
          </a:p>
        </p:txBody>
      </p:sp>
      <p:sp>
        <p:nvSpPr>
          <p:cNvPr id="3" name="Text 1"/>
          <p:cNvSpPr/>
          <p:nvPr/>
        </p:nvSpPr>
        <p:spPr>
          <a:xfrm>
            <a:off x="406390" y="1282700"/>
            <a:ext cx="11378916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0CAF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Perché è utile per studenti, programmatori e professionisti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06390" y="2019300"/>
            <a:ext cx="3725240" cy="1270000"/>
          </a:xfrm>
          <a:prstGeom prst="roundRect">
            <a:avLst>
              <a:gd name="adj" fmla="val 5760"/>
            </a:avLst>
          </a:prstGeom>
          <a:solidFill>
            <a:srgbClr val="24283B"/>
          </a:solidFill>
          <a:ln w="19050">
            <a:solidFill>
              <a:srgbClr val="7AA2F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24678" y="2055876"/>
            <a:ext cx="54864" cy="1196848"/>
          </a:xfrm>
          <a:prstGeom prst="roundRect">
            <a:avLst>
              <a:gd name="adj" fmla="val 50000"/>
            </a:avLst>
          </a:prstGeom>
          <a:solidFill>
            <a:srgbClr val="7AA2F7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7558" y="2147316"/>
            <a:ext cx="219456" cy="21945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81878" y="2129028"/>
            <a:ext cx="30211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AA2F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 Veloce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584185" y="2552700"/>
            <a:ext cx="3369649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C0CA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Crei una presentazione completa in pochi minuti partendo dai tuoi appunti.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233228" y="2019300"/>
            <a:ext cx="3725240" cy="1270000"/>
          </a:xfrm>
          <a:prstGeom prst="roundRect">
            <a:avLst>
              <a:gd name="adj" fmla="val 5760"/>
            </a:avLst>
          </a:prstGeom>
          <a:solidFill>
            <a:srgbClr val="24283B"/>
          </a:solidFill>
          <a:ln w="19050">
            <a:solidFill>
              <a:srgbClr val="7DCFFF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251516" y="2055876"/>
            <a:ext cx="54864" cy="1196848"/>
          </a:xfrm>
          <a:prstGeom prst="roundRect">
            <a:avLst>
              <a:gd name="adj" fmla="val 50000"/>
            </a:avLst>
          </a:prstGeom>
          <a:solidFill>
            <a:srgbClr val="7DCFFF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4396" y="2147316"/>
            <a:ext cx="219456" cy="21945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08716" y="2129028"/>
            <a:ext cx="30211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DC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Sempre Ordinato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4411023" y="2552700"/>
            <a:ext cx="3369649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C0CA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Tutte le slide mantengono lo stesso stile coerente e moderno.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8060065" y="2019300"/>
            <a:ext cx="3725240" cy="1270000"/>
          </a:xfrm>
          <a:prstGeom prst="roundRect">
            <a:avLst>
              <a:gd name="adj" fmla="val 5760"/>
            </a:avLst>
          </a:prstGeom>
          <a:solidFill>
            <a:srgbClr val="24283B"/>
          </a:solidFill>
          <a:ln w="19050">
            <a:solidFill>
              <a:srgbClr val="9ECE6A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8078353" y="2055876"/>
            <a:ext cx="54864" cy="1196848"/>
          </a:xfrm>
          <a:prstGeom prst="roundRect">
            <a:avLst>
              <a:gd name="adj" fmla="val 50000"/>
            </a:avLst>
          </a:prstGeom>
          <a:solidFill>
            <a:srgbClr val="9ECE6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61233" y="2147316"/>
            <a:ext cx="219456" cy="21945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535553" y="2129028"/>
            <a:ext cx="30211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ECE6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Tutto in un File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8237861" y="2552700"/>
            <a:ext cx="3369649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C0CA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Facilissimo da salvare, inviare, condividere e aggiornare nel tempo.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457200" y="6492240"/>
            <a:ext cx="1127729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65F8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YUMIA • CORSO WEB DEV 25726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A1B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6390" y="406400"/>
            <a:ext cx="11378916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7AA2F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Cosa Vogliamo Aggiungere in Futuro</a:t>
            </a:r>
            <a:endParaRPr lang="en-US" sz="3300" dirty="0"/>
          </a:p>
        </p:txBody>
      </p:sp>
      <p:sp>
        <p:nvSpPr>
          <p:cNvPr id="3" name="Text 1"/>
          <p:cNvSpPr/>
          <p:nvPr/>
        </p:nvSpPr>
        <p:spPr>
          <a:xfrm>
            <a:off x="406390" y="1282700"/>
            <a:ext cx="11378916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0CAF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 prossime novità per rendere Yumia ancora più potente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06390" y="2019300"/>
            <a:ext cx="3725240" cy="1270000"/>
          </a:xfrm>
          <a:prstGeom prst="roundRect">
            <a:avLst>
              <a:gd name="adj" fmla="val 5760"/>
            </a:avLst>
          </a:prstGeom>
          <a:solidFill>
            <a:srgbClr val="24283B"/>
          </a:solidFill>
          <a:ln w="19050">
            <a:solidFill>
              <a:srgbClr val="7AA2F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24678" y="2055876"/>
            <a:ext cx="54864" cy="1196848"/>
          </a:xfrm>
          <a:prstGeom prst="roundRect">
            <a:avLst>
              <a:gd name="adj" fmla="val 50000"/>
            </a:avLst>
          </a:prstGeom>
          <a:solidFill>
            <a:srgbClr val="7AA2F7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7558" y="2147316"/>
            <a:ext cx="219456" cy="21945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81878" y="2129028"/>
            <a:ext cx="30211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AA2F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1. Nuovi Temi e Colori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584185" y="2552700"/>
            <a:ext cx="3369649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C0CA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Più stili grafici pronti (moderno, elegante, minimale, colorato).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233228" y="2019300"/>
            <a:ext cx="3725240" cy="1270000"/>
          </a:xfrm>
          <a:prstGeom prst="roundRect">
            <a:avLst>
              <a:gd name="adj" fmla="val 5760"/>
            </a:avLst>
          </a:prstGeom>
          <a:solidFill>
            <a:srgbClr val="24283B"/>
          </a:solidFill>
          <a:ln w="19050">
            <a:solidFill>
              <a:srgbClr val="7DCFFF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251516" y="2055876"/>
            <a:ext cx="54864" cy="1196848"/>
          </a:xfrm>
          <a:prstGeom prst="roundRect">
            <a:avLst>
              <a:gd name="adj" fmla="val 50000"/>
            </a:avLst>
          </a:prstGeom>
          <a:solidFill>
            <a:srgbClr val="7DCFFF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4396" y="2147316"/>
            <a:ext cx="219456" cy="21945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08716" y="2129028"/>
            <a:ext cx="30211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DC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2. Lavoro di Gruppo Live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4411023" y="2552700"/>
            <a:ext cx="3369649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C0CA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Poter scrivere le slide insieme ai compagni in tempo reale sul web.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8060065" y="2019300"/>
            <a:ext cx="3725240" cy="1270000"/>
          </a:xfrm>
          <a:prstGeom prst="roundRect">
            <a:avLst>
              <a:gd name="adj" fmla="val 5760"/>
            </a:avLst>
          </a:prstGeom>
          <a:solidFill>
            <a:srgbClr val="24283B"/>
          </a:solidFill>
          <a:ln w="19050">
            <a:solidFill>
              <a:srgbClr val="9ECE6A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8078353" y="2055876"/>
            <a:ext cx="54864" cy="1196848"/>
          </a:xfrm>
          <a:prstGeom prst="roundRect">
            <a:avLst>
              <a:gd name="adj" fmla="val 50000"/>
            </a:avLst>
          </a:prstGeom>
          <a:solidFill>
            <a:srgbClr val="9ECE6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61233" y="2147316"/>
            <a:ext cx="219456" cy="21945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535553" y="2129028"/>
            <a:ext cx="30211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ECE6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3. Anteprima dal Vivo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8237861" y="2552700"/>
            <a:ext cx="3369649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C0CA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Vedere la slide che si aggiorna istantaneamente mentre scrivi il testo.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457200" y="6492240"/>
            <a:ext cx="1127729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65F8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YUMIA • CORSO WEB DEV 25726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A1B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865980" y="479552"/>
            <a:ext cx="2459736" cy="237744"/>
          </a:xfrm>
          <a:prstGeom prst="roundRect">
            <a:avLst>
              <a:gd name="adj" fmla="val 61538"/>
            </a:avLst>
          </a:prstGeom>
          <a:solidFill>
            <a:srgbClr val="24283B"/>
          </a:solidFill>
          <a:ln w="19050">
            <a:solidFill>
              <a:srgbClr val="7AA2F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865980" y="479552"/>
            <a:ext cx="245973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AA2F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DOMANDE &amp; CURIOSITÀ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06390" y="808736"/>
            <a:ext cx="11378916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C0CAF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Grazie per l'attenzione!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06390" y="1247648"/>
            <a:ext cx="11378916" cy="2397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65F8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Yumia: descrivi le tue idee, al resto pensa il codice.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06390" y="1701800"/>
            <a:ext cx="3725240" cy="1270000"/>
          </a:xfrm>
          <a:prstGeom prst="roundRect">
            <a:avLst>
              <a:gd name="adj" fmla="val 5760"/>
            </a:avLst>
          </a:prstGeom>
          <a:solidFill>
            <a:srgbClr val="24283B"/>
          </a:solidFill>
          <a:ln w="19050">
            <a:solidFill>
              <a:srgbClr val="7AA2F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24678" y="1738376"/>
            <a:ext cx="54864" cy="1196848"/>
          </a:xfrm>
          <a:prstGeom prst="roundRect">
            <a:avLst>
              <a:gd name="adj" fmla="val 50000"/>
            </a:avLst>
          </a:prstGeom>
          <a:solidFill>
            <a:srgbClr val="7AA2F7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7558" y="1829816"/>
            <a:ext cx="219456" cy="219456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81878" y="1811528"/>
            <a:ext cx="30211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AA2F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Spazio Domande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584185" y="2235200"/>
            <a:ext cx="3369649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C0CA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Chiarimenti, curiosità e domande sul funzionamento di Yumia.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4233228" y="1701800"/>
            <a:ext cx="3725240" cy="1270000"/>
          </a:xfrm>
          <a:prstGeom prst="roundRect">
            <a:avLst>
              <a:gd name="adj" fmla="val 5760"/>
            </a:avLst>
          </a:prstGeom>
          <a:solidFill>
            <a:srgbClr val="24283B"/>
          </a:solidFill>
          <a:ln w="19050">
            <a:solidFill>
              <a:srgbClr val="7DCFF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251516" y="1738376"/>
            <a:ext cx="54864" cy="1196848"/>
          </a:xfrm>
          <a:prstGeom prst="roundRect">
            <a:avLst>
              <a:gd name="adj" fmla="val 50000"/>
            </a:avLst>
          </a:prstGeom>
          <a:solidFill>
            <a:srgbClr val="7DCFFF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4396" y="1829816"/>
            <a:ext cx="219456" cy="219456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708716" y="1811528"/>
            <a:ext cx="30211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DC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Dimostrazione Live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4411023" y="2235200"/>
            <a:ext cx="3369649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C0CA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Disponibile a mostrare la generazione istantanea dei file.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8060065" y="1701800"/>
            <a:ext cx="3725240" cy="1270000"/>
          </a:xfrm>
          <a:prstGeom prst="roundRect">
            <a:avLst>
              <a:gd name="adj" fmla="val 5760"/>
            </a:avLst>
          </a:prstGeom>
          <a:solidFill>
            <a:srgbClr val="24283B"/>
          </a:solidFill>
          <a:ln w="19050">
            <a:solidFill>
              <a:srgbClr val="9ECE6A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8078353" y="1738376"/>
            <a:ext cx="54864" cy="1196848"/>
          </a:xfrm>
          <a:prstGeom prst="roundRect">
            <a:avLst>
              <a:gd name="adj" fmla="val 50000"/>
            </a:avLst>
          </a:prstGeom>
          <a:solidFill>
            <a:srgbClr val="9ECE6A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61233" y="1829816"/>
            <a:ext cx="219456" cy="219456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535553" y="1811528"/>
            <a:ext cx="30211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ECE6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Classe 25726</a:t>
            </a:r>
            <a:endParaRPr lang="en-US" sz="1600" dirty="0"/>
          </a:p>
        </p:txBody>
      </p:sp>
      <p:sp>
        <p:nvSpPr>
          <p:cNvPr id="20" name="Text 15"/>
          <p:cNvSpPr/>
          <p:nvPr/>
        </p:nvSpPr>
        <p:spPr>
          <a:xfrm>
            <a:off x="8237861" y="2235200"/>
            <a:ext cx="3369649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C0CA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Progetto per il corso di Web Dev presentato da Biagio Scaglia.</a:t>
            </a:r>
            <a:endParaRPr lang="en-US" sz="1300" dirty="0"/>
          </a:p>
        </p:txBody>
      </p:sp>
      <p:sp>
        <p:nvSpPr>
          <p:cNvPr id="21" name="Shape 16"/>
          <p:cNvSpPr/>
          <p:nvPr/>
        </p:nvSpPr>
        <p:spPr>
          <a:xfrm>
            <a:off x="406390" y="3149600"/>
            <a:ext cx="11378916" cy="774700"/>
          </a:xfrm>
          <a:prstGeom prst="roundRect">
            <a:avLst>
              <a:gd name="adj" fmla="val 9443"/>
            </a:avLst>
          </a:prstGeom>
          <a:solidFill>
            <a:srgbClr val="24283B"/>
          </a:solidFill>
          <a:ln w="25400">
            <a:solidFill>
              <a:srgbClr val="9ECE6A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9270" y="3295904"/>
            <a:ext cx="201168" cy="201168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845302" y="3295904"/>
            <a:ext cx="107571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ECE6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Spazio alle Domande</a:t>
            </a:r>
            <a:endParaRPr lang="en-US" sz="1300" dirty="0"/>
          </a:p>
        </p:txBody>
      </p:sp>
      <p:sp>
        <p:nvSpPr>
          <p:cNvPr id="24" name="Text 18"/>
          <p:cNvSpPr/>
          <p:nvPr/>
        </p:nvSpPr>
        <p:spPr>
          <a:xfrm>
            <a:off x="589270" y="3625088"/>
            <a:ext cx="11013156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0CA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Sono a disposizione per chiarimenti, dimostrazioni pratiche e domande della classe e del docente!</a:t>
            </a:r>
            <a:endParaRPr lang="en-US" sz="1200" dirty="0"/>
          </a:p>
        </p:txBody>
      </p:sp>
      <p:sp>
        <p:nvSpPr>
          <p:cNvPr id="25" name="Text 19"/>
          <p:cNvSpPr/>
          <p:nvPr/>
        </p:nvSpPr>
        <p:spPr>
          <a:xfrm>
            <a:off x="457200" y="6492240"/>
            <a:ext cx="1127729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65F8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YUMIA • CORSO WEB DEV 25726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Yumia — Creare Presentazioni con Semplicità</dc:title>
  <dc:subject>PptxGenJS Presentation</dc:subject>
  <dc:creator>Biagio Scaglia</dc:creator>
  <cp:lastModifiedBy>Biagio Scaglia</cp:lastModifiedBy>
  <cp:revision>1</cp:revision>
  <dcterms:created xsi:type="dcterms:W3CDTF">2026-09-07T13:51:00Z</dcterms:created>
  <dcterms:modified xsi:type="dcterms:W3CDTF">2026-09-07T13:51:00Z</dcterms:modified>
</cp:coreProperties>
</file>