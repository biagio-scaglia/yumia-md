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Benvenuti a questa presentazione su Yumia.
Oggi esploreremo come Yumia ridefinisce la creazione di presentazioni tecniche introducendo il concetto di Design Compiler: un approccio dichiarativo in cui l'autore descrive l'intento comunicativo e il compilatore genera output multipiattaforma garantiti e coerenti.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tool tradizionali come PowerPoint o Canva costringono gli sviluppatori a gestire manualmente pixel, forme e coordinate. Questo genera file binari pesanti e non versionabili con Git.
Inoltre, quando chiediamo a un'intelligenza artificiale di creare una slide in HTML/CSS grezzo, i risultati visivi sono spesso rotti o disallineati perché il modello non controlla la geometria finale.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Yumia introduce il concetto di Design Intent. Invece di posizionare pixel a mano, usiamo blocchi semantici come hero, card, compare o chart.
Il motore di layout si occupa di calcolare spazi, allineamenti e palette cromatiche, garantendo che il risultato finale sia sempre professionale e privo di difetti visivi.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un solo file sorgente possiamo compilare verso tre formati completamente diversi:
1) HTML interattivo con navigazione e speaker view per presentare direttamente da browser;
2) PowerPoint con forme native e testo modificabile per i colleghi o clienti;
3) PDF vettoriale pronto per la stampa o la condivisione formale.
Nessun bisogno di riscrivere o ricreare le slide da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pipeline di Yumia si ispira ai compilatori tradizionali:
1. Il Parser analizza il file sorgente e genera l'AST;
2. Il Design Linter controlla contrasti, densità e accessibilità;
3. Il Theme Engine risolve palette, font e icone;
4. Il Layout Engine calcola bounding box e posizioni in coordinate assolute;
5. I Renderer emettono il codice nativo per ciascun formato di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L'AST non memorizza 'rettangolo blu a x=100 y=200', ma memorizza 'Elemento Card con variante Accent e ruolo primario'.
Questo disaccoppiamento permette ai renderer di interpretare lo stesso elemento semantico nel modo più efficace per ogni formato di destinazione.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potete vedere da questo frammento, il codice Native Yumia è essenziale e intuitivo.
Con poche righe dichiariamo il documento, il tema, una slide con titolo hero e una griglia con tre metriche.
Non c'è bisogno di scrivere codice CSS, div annidati o coordinate numeriche.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È fondamentale sottolineare come lavorano i tre renderer:
L'HTML offre interattività e speaker view;
Il renderer PPTX non incolla immagini, ma genera veri oggetti e forme vettoriali OpenXML modificabili all'interno di Microsoft PowerPoint;
Il renderer PDF produce documenti vettoriali perfetti per la stampa e l'archiviazione.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Proprio come usiamo ESLint o i compilatori per trovare errori logici nel codice sorgente, il Design Linter di Yumia analizza le slide per individuare problemi di design: testo troppo denso, scarso contrasto cromatico o sovrapposizioni, restituendo suggerimenti operativi.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CLI di Yumia offre un set completo di comandi:
- validate ed explain per analizzare sintassi e ritmo visivo;
- dev per avere un server locale con hot-reload e inspector;
- check per eseguire l'audit di contrasto e densità;
- build e deploy per compilare e pubblicare in automatico nei pipeline CI/CD.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Gli LLM hanno difficoltà a calcolare geometrie esatte e layout CSS complessi. Con Yumia, il modello di AI deve solo generare blocchi semantici concisi come card o compare.
Il compilatore si fa carico di renderizzare tutto alla perfezione, riducendo drasticamente il tasso di allucinazioni e codice malformato.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Yumia integra direttamente nella sintassi diagrammi di flusso, diagrammi di sequenza, grafici di dati, timeline e formule matematiche LaTeX.
Questo elimina la necessità di fare screenshot da tool esterni o incollare immagini a bassa risoluzione.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Yumia offre una doppia compatibilità:
supporta sia file Markdown standard con blocchi di direttive, sia la nuova sintassi Native Yumia, più concisa e priva di boilerplate.
Un tool di migrazione integrato consente di convertire i file in modo completamente trasparente.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È importante mantenere uno sguardo critico e trasparente sullo stato del progetto:
Yumia ha già solidi punti di forza nella versionabilità e nella compilazione multi-target.
I prossimi passi si concentreranno sull'affinamento dei casi limite nei renderer e sullo sviluppo di estensioni IDE e funzionalità di collaborazione in tempo reale.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conclusione, Yumia dimostra come i principi dell'ingegneria del software — compilatori, AST, linter e separazione delle responsabilità — possano essere applicati con successo alla comunicazione visiva.
Grazie per l'attenzione: sono a vostra completa disposizione per domande e approfondimenti tecnici.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67148" y="479552"/>
            <a:ext cx="2057400" cy="237744"/>
          </a:xfrm>
          <a:prstGeom prst="roundRect">
            <a:avLst>
              <a:gd name="adj" fmla="val 61538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67148" y="479552"/>
            <a:ext cx="2057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COMPILER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06390" y="808736"/>
            <a:ext cx="1137891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06390" y="1247648"/>
            <a:ext cx="11378916" cy="239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A7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linguaggio dichiarativo per documenti visivi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90" y="1701800"/>
            <a:ext cx="113789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[Nome e Cognome]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problema delle presentazioni tecniche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Perché creare slide tecniche è complesso e inefficiente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5460858" cy="2463800"/>
          </a:xfrm>
          <a:prstGeom prst="roundRect">
            <a:avLst>
              <a:gd name="adj" fmla="val 3711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3550" y="2156460"/>
            <a:ext cx="51865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Approccio Tradizionale (WYSIWYG / Manuale)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24448" y="2019300"/>
            <a:ext cx="5460858" cy="2463800"/>
          </a:xfrm>
          <a:prstGeom prst="roundRect">
            <a:avLst>
              <a:gd name="adj" fmla="val 3711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61608" y="2156460"/>
            <a:ext cx="51865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Problemi &amp; Limiti Strutturali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03824" y="3059176"/>
            <a:ext cx="384048" cy="384048"/>
          </a:xfrm>
          <a:prstGeom prst="ellipse">
            <a:avLst/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03824" y="3059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562021" y="2552700"/>
            <a:ext cx="3200400" cy="330200"/>
          </a:xfrm>
          <a:prstGeom prst="roundRect">
            <a:avLst>
              <a:gd name="adj" fmla="val 41538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62021" y="2552700"/>
            <a:ext cx="3200400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 VISUALI &amp; SLIDE EDITOR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4185" y="29718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Disposizione manuale di box di testo e forme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84185" y="33274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Formattazione incoerente che degrada nel tempo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84185" y="36830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File binari opachi non versionabili con Git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4185" y="40386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Rischio costante di disallineamenti tra formati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548146" y="2552700"/>
            <a:ext cx="2962656" cy="330200"/>
          </a:xfrm>
          <a:prstGeom prst="roundRect">
            <a:avLst>
              <a:gd name="adj" fmla="val 41538"/>
            </a:avLst>
          </a:prstGeom>
          <a:solidFill>
            <a:srgbClr val="151522"/>
          </a:solidFill>
          <a:ln w="19050">
            <a:solidFill>
              <a:srgbClr val="FF00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48146" y="2552700"/>
            <a:ext cx="2962656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ATTRITI DI SVILUPPO &amp; AI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51439" y="29718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riutilizzabilità tra documentazione e slide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51439" y="33274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Frammentazione tra Markdown, HTML e PPTX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51439" y="36830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Gli LLM faticano a generare layout geometrici stabili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51439" y="40386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Nessun test automatico di qualità visiva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soluzione: Il Design Compiler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Dall'intento comunicativo alla composizione automatica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3725240" cy="1485900"/>
          </a:xfrm>
          <a:prstGeom prst="roundRect">
            <a:avLst>
              <a:gd name="adj" fmla="val 4923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4127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Intento vs Geometria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84185" y="2552700"/>
            <a:ext cx="3369649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 diciamo al computer 'disegna un rettangolo a coordinate (x,y)', ma 'crea una Card per evidenziare una funzionalità'.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33228" y="2019300"/>
            <a:ext cx="3725240" cy="1485900"/>
          </a:xfrm>
          <a:prstGeom prst="roundRect">
            <a:avLst>
              <a:gd name="adj" fmla="val 4923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516" y="2055876"/>
            <a:ext cx="54864" cy="14127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0" name="Text 8"/>
          <p:cNvSpPr/>
          <p:nvPr/>
        </p:nvSpPr>
        <p:spPr>
          <a:xfrm>
            <a:off x="4461828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Componenti Semantici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11023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Primitive di alto livello: hero, metric, card, grid, compare, timeline, chart e diagram.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60065" y="2019300"/>
            <a:ext cx="3725240" cy="1485900"/>
          </a:xfrm>
          <a:prstGeom prst="roundRect">
            <a:avLst>
              <a:gd name="adj" fmla="val 4923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78353" y="2055876"/>
            <a:ext cx="54864" cy="14127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14" name="Text 12"/>
          <p:cNvSpPr/>
          <p:nvPr/>
        </p:nvSpPr>
        <p:spPr>
          <a:xfrm>
            <a:off x="8288665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Layout Deterministico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37861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motore di calcolo automatico distribuisce spazi, gap, contrasti e gerarchie visive senza overflow.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06390" y="3683000"/>
            <a:ext cx="11378916" cy="965200"/>
          </a:xfrm>
          <a:prstGeom prst="roundRect">
            <a:avLst>
              <a:gd name="adj" fmla="val 7579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270" y="3829304"/>
            <a:ext cx="11013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Cambio di paradigma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89270" y="4158488"/>
            <a:ext cx="11013156" cy="361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Yumia separa radicalmente il contenuto dal rendering visivo: lo sviluppatore scrive la semantica, il compilatore applica il design system.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Un'unica sorgente, più formati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Compilazione Multi-Target da una Singola Sorgente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06390" y="2019300"/>
            <a:ext cx="113789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Flusso di Trasformazione Multi-Target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88184" y="2902204"/>
            <a:ext cx="129577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17761" y="2902204"/>
            <a:ext cx="914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17761" y="2902204"/>
            <a:ext cx="129577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966270" y="2902204"/>
            <a:ext cx="129577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95848" y="2902204"/>
            <a:ext cx="914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95848" y="2902204"/>
            <a:ext cx="129577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744357" y="2902204"/>
            <a:ext cx="129577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873934" y="2455883"/>
            <a:ext cx="9144" cy="446321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73934" y="2455883"/>
            <a:ext cx="129577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44357" y="2902204"/>
            <a:ext cx="129577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73934" y="2902204"/>
            <a:ext cx="914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73934" y="2902204"/>
            <a:ext cx="129577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44357" y="2902204"/>
            <a:ext cx="129577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3934" y="2902204"/>
            <a:ext cx="9144" cy="446321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73934" y="3348525"/>
            <a:ext cx="129577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669251" y="2758229"/>
            <a:ext cx="1518932" cy="287949"/>
          </a:xfrm>
          <a:prstGeom prst="roundRect">
            <a:avLst>
              <a:gd name="adj" fmla="val 25404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2403" y="2813093"/>
            <a:ext cx="1372628" cy="178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Sorgente Yumia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447338" y="2758229"/>
            <a:ext cx="1518932" cy="287949"/>
          </a:xfrm>
          <a:prstGeom prst="roundRect">
            <a:avLst>
              <a:gd name="adj" fmla="val 25404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20490" y="2813093"/>
            <a:ext cx="1372628" cy="178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 Semantico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25425" y="2758229"/>
            <a:ext cx="1518932" cy="287949"/>
          </a:xfrm>
          <a:prstGeom prst="roundRect">
            <a:avLst>
              <a:gd name="adj" fmla="val 25404"/>
            </a:avLst>
          </a:prstGeom>
          <a:solidFill>
            <a:srgbClr val="151522"/>
          </a:solidFill>
          <a:ln w="25400">
            <a:solidFill>
              <a:srgbClr val="FFE6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98577" y="2813093"/>
            <a:ext cx="1372628" cy="178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System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003512" y="2311908"/>
            <a:ext cx="1518932" cy="287949"/>
          </a:xfrm>
          <a:prstGeom prst="roundRect">
            <a:avLst>
              <a:gd name="adj" fmla="val 25404"/>
            </a:avLst>
          </a:prstGeom>
          <a:solidFill>
            <a:srgbClr val="151522"/>
          </a:solidFill>
          <a:ln w="25400">
            <a:solidFill>
              <a:srgbClr val="00FF9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76664" y="2366772"/>
            <a:ext cx="1372628" cy="178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 Interattivo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003512" y="2758229"/>
            <a:ext cx="1518932" cy="287949"/>
          </a:xfrm>
          <a:prstGeom prst="roundRect">
            <a:avLst>
              <a:gd name="adj" fmla="val 25404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76664" y="2813093"/>
            <a:ext cx="1372628" cy="178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PowerPoint PPTX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003512" y="3204551"/>
            <a:ext cx="1518932" cy="287949"/>
          </a:xfrm>
          <a:prstGeom prst="roundRect">
            <a:avLst>
              <a:gd name="adj" fmla="val 25404"/>
            </a:avLst>
          </a:prstGeom>
          <a:solidFill>
            <a:srgbClr val="151522"/>
          </a:solidFill>
          <a:ln w="25400">
            <a:solidFill>
              <a:srgbClr val="FF005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76664" y="3259415"/>
            <a:ext cx="1372628" cy="178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PDF Vettoriale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06390" y="3670300"/>
            <a:ext cx="11378916" cy="965200"/>
          </a:xfrm>
          <a:prstGeom prst="roundRect">
            <a:avLst>
              <a:gd name="adj" fmla="val 7579"/>
            </a:avLst>
          </a:prstGeom>
          <a:solidFill>
            <a:srgbClr val="151522"/>
          </a:solidFill>
          <a:ln w="25400">
            <a:solidFill>
              <a:srgbClr val="00FF9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9270" y="3816604"/>
            <a:ext cx="11013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Principio Single Source of Truth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89270" y="4145788"/>
            <a:ext cx="11013156" cy="361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unico file di testo (.yumia) compilabile istantaneamente per il web, per presentazioni aziendali modificabili e per la stampa/distribuzione fissa.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Architettura della Pipeline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Dalla sintassi al rendering finale: la pipeline a 7 stadi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06390" y="2019300"/>
            <a:ext cx="113789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di Compilazione Deterministica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944296" y="2800604"/>
            <a:ext cx="215148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59444" y="2800604"/>
            <a:ext cx="914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59444" y="2800604"/>
            <a:ext cx="215148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912498" y="2800604"/>
            <a:ext cx="215148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27646" y="2800604"/>
            <a:ext cx="914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27646" y="2800604"/>
            <a:ext cx="215148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880700" y="2800604"/>
            <a:ext cx="215148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800604"/>
            <a:ext cx="914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95848" y="2800604"/>
            <a:ext cx="215148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848902" y="2800604"/>
            <a:ext cx="215148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64049" y="2800604"/>
            <a:ext cx="914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64049" y="2800604"/>
            <a:ext cx="215148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817104" y="2800604"/>
            <a:ext cx="215148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32251" y="2800604"/>
            <a:ext cx="914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32251" y="2800604"/>
            <a:ext cx="215148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06390" y="2561551"/>
            <a:ext cx="1537907" cy="478106"/>
          </a:xfrm>
          <a:prstGeom prst="roundRect">
            <a:avLst>
              <a:gd name="adj" fmla="val 15300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9542" y="2616415"/>
            <a:ext cx="1391603" cy="3683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Sorgente DSL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374592" y="2561551"/>
            <a:ext cx="1537907" cy="478106"/>
          </a:xfrm>
          <a:prstGeom prst="roundRect">
            <a:avLst>
              <a:gd name="adj" fmla="val 15300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47744" y="2616415"/>
            <a:ext cx="1391603" cy="3683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Parser AST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42793" y="2561551"/>
            <a:ext cx="1537907" cy="478106"/>
          </a:xfrm>
          <a:prstGeom prst="roundRect">
            <a:avLst>
              <a:gd name="adj" fmla="val 15300"/>
            </a:avLst>
          </a:prstGeom>
          <a:solidFill>
            <a:srgbClr val="151522"/>
          </a:solidFill>
          <a:ln w="25400">
            <a:solidFill>
              <a:srgbClr val="FFE6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15945" y="2616415"/>
            <a:ext cx="1391603" cy="3683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Linter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310995" y="2561551"/>
            <a:ext cx="1537907" cy="478106"/>
          </a:xfrm>
          <a:prstGeom prst="roundRect">
            <a:avLst>
              <a:gd name="adj" fmla="val 15300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4147" y="2616415"/>
            <a:ext cx="1391603" cy="3683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Theme Engine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79197" y="2561551"/>
            <a:ext cx="1537907" cy="478106"/>
          </a:xfrm>
          <a:prstGeom prst="roundRect">
            <a:avLst>
              <a:gd name="adj" fmla="val 15300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52349" y="2616415"/>
            <a:ext cx="1391603" cy="3683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Layout Engine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0247399" y="2561551"/>
            <a:ext cx="1537907" cy="478106"/>
          </a:xfrm>
          <a:prstGeom prst="roundRect">
            <a:avLst>
              <a:gd name="adj" fmla="val 15300"/>
            </a:avLst>
          </a:prstGeom>
          <a:solidFill>
            <a:srgbClr val="151522"/>
          </a:solidFill>
          <a:ln w="25400">
            <a:solidFill>
              <a:srgbClr val="00FF9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320551" y="2616415"/>
            <a:ext cx="1391603" cy="3683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Renderer Multipli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06390" y="3467100"/>
            <a:ext cx="11378916" cy="965200"/>
          </a:xfrm>
          <a:prstGeom prst="roundRect">
            <a:avLst>
              <a:gd name="adj" fmla="val 7579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9270" y="3613404"/>
            <a:ext cx="11013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deterministica a passate isolate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89270" y="3942588"/>
            <a:ext cx="11013156" cy="361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Ogni stadio trasforma il modello dati in modo puro: dal parsing sintattico all'AST, dal controllo qualità al calcolo geometrico e all'emissione su DOM, OpenXML o PDFKit.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L'AST e il Design Intent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Rappresentazione intermedia del significato e della struttura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5600560" cy="2870200"/>
          </a:xfrm>
          <a:prstGeom prst="roundRect">
            <a:avLst>
              <a:gd name="adj" fmla="val 2549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27970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21290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AST: Abstract Syntax Tree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84185" y="2552700"/>
            <a:ext cx="524496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Struttura dati intermedia ad albero che incapsula il contenuto, la gerarchia logica e i vincoli semantici di presentazione.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30014" y="3105150"/>
            <a:ext cx="1353312" cy="330200"/>
          </a:xfrm>
          <a:prstGeom prst="roundRect">
            <a:avLst>
              <a:gd name="adj" fmla="val 41538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30014" y="3105150"/>
            <a:ext cx="1353312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EMPHASIS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80306" y="3505200"/>
            <a:ext cx="1252728" cy="330200"/>
          </a:xfrm>
          <a:prstGeom prst="roundRect">
            <a:avLst>
              <a:gd name="adj" fmla="val 41538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80306" y="3505200"/>
            <a:ext cx="1252728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DENSITY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479722" y="3905250"/>
            <a:ext cx="1453896" cy="330200"/>
          </a:xfrm>
          <a:prstGeom prst="roundRect">
            <a:avLst>
              <a:gd name="adj" fmla="val 41538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79722" y="3905250"/>
            <a:ext cx="1453896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HIERARCHY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58030" y="4305300"/>
            <a:ext cx="1097280" cy="330200"/>
          </a:xfrm>
          <a:prstGeom prst="roundRect">
            <a:avLst>
              <a:gd name="adj" fmla="val 41538"/>
            </a:avLst>
          </a:prstGeom>
          <a:solidFill>
            <a:srgbClr val="151522"/>
          </a:solidFill>
          <a:ln w="19050">
            <a:solidFill>
              <a:srgbClr val="00F0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58030" y="4305300"/>
            <a:ext cx="1097280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ALIGN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84745" y="2019300"/>
            <a:ext cx="5600560" cy="2063750"/>
          </a:xfrm>
          <a:prstGeom prst="roundRect">
            <a:avLst>
              <a:gd name="adj" fmla="val 3545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03033" y="2055876"/>
            <a:ext cx="54864" cy="199059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18" name="Text 16"/>
          <p:cNvSpPr/>
          <p:nvPr/>
        </p:nvSpPr>
        <p:spPr>
          <a:xfrm>
            <a:off x="6413345" y="21290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Componenti Semantici Astratti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362541" y="2552700"/>
            <a:ext cx="5244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Struttura: Hero, Heading, Paragraph, Columns, Grid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62541" y="2889250"/>
            <a:ext cx="5244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Dati &amp; Logica: Metric, Card, Compare, Timeline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62541" y="3225800"/>
            <a:ext cx="5244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Visuali: Diagram, Sequence, Class, Chart, Table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62541" y="3562350"/>
            <a:ext cx="5244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Annotazioni: Badge, Callout, Math, Notes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Esempio di Codice Native Yumia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Sintassi pulita, dichiarativa e basata su indentazione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6160616" cy="2476500"/>
          </a:xfrm>
          <a:prstGeom prst="roundRect">
            <a:avLst>
              <a:gd name="adj" fmla="val 2954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3550" y="21290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0710" y="21290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7870" y="21290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7558" y="2348484"/>
            <a:ext cx="5758280" cy="2037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 "Yumia Demo"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theme "cyberpunk"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aspectRatio "16:9"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"Yumia in azione"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hero title="Design Compiler" subtitle="Dall'intento al documento visivo" badge="Demo"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 columns=3 gap=20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"1" label="Sorgente"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"3" label="Formati"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"0" label="Layout manuale"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744801" y="2019300"/>
            <a:ext cx="5040504" cy="2063750"/>
          </a:xfrm>
          <a:prstGeom prst="roundRect">
            <a:avLst>
              <a:gd name="adj" fmla="val 3545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3089" y="2055876"/>
            <a:ext cx="54864" cy="199059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11" name="Text 9"/>
          <p:cNvSpPr/>
          <p:nvPr/>
        </p:nvSpPr>
        <p:spPr>
          <a:xfrm>
            <a:off x="6973401" y="2129028"/>
            <a:ext cx="4583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Caratteristiche del linguaggio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22597" y="2552700"/>
            <a:ext cx="46849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Struttura gerarchica pulita basata sull'indentazione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2597" y="2889250"/>
            <a:ext cx="46849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Componenti semantici senza CSS a basso livello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22597" y="3225800"/>
            <a:ext cx="46849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Nessun tag HTML di chiusura o sintassi verbosa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22597" y="3562350"/>
            <a:ext cx="46849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Perfettamente leggibile e modificabile in qualsiasi editor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Tre Output Principali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Generazione nativa e specializzata per ogni ecosistema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3725240" cy="2063750"/>
          </a:xfrm>
          <a:prstGeom prst="roundRect">
            <a:avLst>
              <a:gd name="adj" fmla="val 3545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99059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HtmlRenderer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84185" y="25527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Presentazione web interattiva SPA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84185" y="288925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Navigazione da tastiera e fullscreen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84185" y="32258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Modalità Speaker View con note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84185" y="356235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Inspector visuale in tempo reale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33228" y="2019300"/>
            <a:ext cx="3725240" cy="2063750"/>
          </a:xfrm>
          <a:prstGeom prst="roundRect">
            <a:avLst>
              <a:gd name="adj" fmla="val 3545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51516" y="2055876"/>
            <a:ext cx="54864" cy="199059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3" name="Text 11"/>
          <p:cNvSpPr/>
          <p:nvPr/>
        </p:nvSpPr>
        <p:spPr>
          <a:xfrm>
            <a:off x="4461828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PptxRenderer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411023" y="25527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Forme OpenXML native e testo modificabile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11023" y="288925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Tabelle, card e grafici nativi Office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411023" y="32258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screenshot o immagini statiche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11023" y="356235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Modificabile su PowerPoint / Keynote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060065" y="2019300"/>
            <a:ext cx="3725240" cy="2063750"/>
          </a:xfrm>
          <a:prstGeom prst="roundRect">
            <a:avLst>
              <a:gd name="adj" fmla="val 3545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78353" y="2055876"/>
            <a:ext cx="54864" cy="199059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20" name="Text 18"/>
          <p:cNvSpPr/>
          <p:nvPr/>
        </p:nvSpPr>
        <p:spPr>
          <a:xfrm>
            <a:off x="8288665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PdfRenderer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37861" y="25527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Rendering vettoriale ad alta definizione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37861" y="288925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Layout e tipografia rigorosamente fissati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37861" y="32258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Ideale per dispense, esami e stampa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37861" y="356235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Dimensioni del file ottimizzate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Linter e Qualità Visiva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Static Analysis per la leggibilità e l'accessibilità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5600560" cy="2400300"/>
          </a:xfrm>
          <a:prstGeom prst="roundRect">
            <a:avLst>
              <a:gd name="adj" fmla="val 3048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23271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21290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Controlli Automatici di Design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84185" y="2552700"/>
            <a:ext cx="5244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Densità informativa e carico cognitivo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84185" y="2889250"/>
            <a:ext cx="5244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Verifica slide vuote o incomplete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84185" y="3225800"/>
            <a:ext cx="5244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Contrasto testo/sfondo secondo standard WCAG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84185" y="3562350"/>
            <a:ext cx="5244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Rispetto della Safe Area e margini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84185" y="3898900"/>
            <a:ext cx="5244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Calcolo del Visual Score da 0 a 100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84745" y="2019300"/>
            <a:ext cx="5600560" cy="2184400"/>
          </a:xfrm>
          <a:prstGeom prst="roundRect">
            <a:avLst>
              <a:gd name="adj" fmla="val 3349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03033" y="2055876"/>
            <a:ext cx="54864" cy="2111248"/>
          </a:xfrm>
          <a:prstGeom prst="roundRect">
            <a:avLst>
              <a:gd name="adj" fmla="val 50000"/>
            </a:avLst>
          </a:prstGeom>
          <a:solidFill>
            <a:srgbClr val="FFE600"/>
          </a:solidFill>
          <a:ln/>
        </p:spPr>
      </p:sp>
      <p:sp>
        <p:nvSpPr>
          <p:cNvPr id="14" name="Text 12"/>
          <p:cNvSpPr/>
          <p:nvPr/>
        </p:nvSpPr>
        <p:spPr>
          <a:xfrm>
            <a:off x="6413345" y="21290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Esempio di Diagnostica CLI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362541" y="2552700"/>
            <a:ext cx="5244969" cy="1397000"/>
          </a:xfrm>
          <a:prstGeom prst="roundRect">
            <a:avLst>
              <a:gd name="adj" fmla="val 5236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9701" y="26624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36861" y="26624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774021" y="26624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63709" y="2881884"/>
            <a:ext cx="4842633" cy="958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[YUM004] Alta densità informativa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 slide contiene troppi elementi complessi.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Suggerimento: dividere la slide o usare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una griglia di metriche.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06390" y="4597400"/>
            <a:ext cx="11378916" cy="774700"/>
          </a:xfrm>
          <a:prstGeom prst="roundRect">
            <a:avLst>
              <a:gd name="adj" fmla="val 9443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9270" y="4743704"/>
            <a:ext cx="11013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Prevenzione prima della build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9270" y="5072888"/>
            <a:ext cx="1101315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linter intercetta difetti grafici, errori tipografici e problemi di leggibilità prima di distribuire la presentazione.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 e Workflow di Sviluppo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L'esperienza di sviluppo pensata per sviluppatori e CI/CD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3725240" cy="1752600"/>
          </a:xfrm>
          <a:prstGeom prst="roundRect">
            <a:avLst>
              <a:gd name="adj" fmla="val 4174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6794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Scrittura &amp; Validazione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84185" y="2552700"/>
            <a:ext cx="3369649" cy="965200"/>
          </a:xfrm>
          <a:prstGeom prst="roundRect">
            <a:avLst>
              <a:gd name="adj" fmla="val 7579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1345" y="26624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8505" y="26624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95665" y="26624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5353" y="2881884"/>
            <a:ext cx="2967313" cy="526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validate pres.yumia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explain pres.yumia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33228" y="2019300"/>
            <a:ext cx="3725240" cy="1752600"/>
          </a:xfrm>
          <a:prstGeom prst="roundRect">
            <a:avLst>
              <a:gd name="adj" fmla="val 4174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51516" y="2055876"/>
            <a:ext cx="54864" cy="16794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4" name="Text 12"/>
          <p:cNvSpPr/>
          <p:nvPr/>
        </p:nvSpPr>
        <p:spPr>
          <a:xfrm>
            <a:off x="4461828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Live Dev &amp; Audit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11023" y="2552700"/>
            <a:ext cx="3369649" cy="965200"/>
          </a:xfrm>
          <a:prstGeom prst="roundRect">
            <a:avLst>
              <a:gd name="adj" fmla="val 7579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48183" y="26624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85343" y="26624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22503" y="26624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12191" y="2881884"/>
            <a:ext cx="2967313" cy="526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dev pres.yumia --open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check --optimize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60065" y="2019300"/>
            <a:ext cx="3725240" cy="1752600"/>
          </a:xfrm>
          <a:prstGeom prst="roundRect">
            <a:avLst>
              <a:gd name="adj" fmla="val 4174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78353" y="2055876"/>
            <a:ext cx="54864" cy="16794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22" name="Text 20"/>
          <p:cNvSpPr/>
          <p:nvPr/>
        </p:nvSpPr>
        <p:spPr>
          <a:xfrm>
            <a:off x="8288665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Build &amp; Deploy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237861" y="2552700"/>
            <a:ext cx="3369649" cy="965200"/>
          </a:xfrm>
          <a:prstGeom prst="roundRect">
            <a:avLst>
              <a:gd name="adj" fmla="val 7579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75021" y="26624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512181" y="26624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49341" y="26624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39029" y="2881884"/>
            <a:ext cx="2967313" cy="526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build --format pptx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deploy --provider gh-pages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06390" y="3949700"/>
            <a:ext cx="11378916" cy="774700"/>
          </a:xfrm>
          <a:prstGeom prst="roundRect">
            <a:avLst>
              <a:gd name="adj" fmla="val 9443"/>
            </a:avLst>
          </a:prstGeom>
          <a:solidFill>
            <a:srgbClr val="151522"/>
          </a:solidFill>
          <a:ln w="25400">
            <a:solidFill>
              <a:srgbClr val="00FF9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9270" y="4096004"/>
            <a:ext cx="11013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integrabile in CI/CD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89270" y="4425188"/>
            <a:ext cx="1101315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Ogni commit su Git può validare le slide, generare la documentazione HTML e pubblicare la versione aggiornata su GitHub Pages.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e Intelligenza Artificiale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Perché i linguaggi dichiarativi semantici superano l'HTML grezzo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5460858" cy="2463800"/>
          </a:xfrm>
          <a:prstGeom prst="roundRect">
            <a:avLst>
              <a:gd name="adj" fmla="val 3711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3550" y="2156460"/>
            <a:ext cx="51865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con HTML / CSS Grezzo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24448" y="2019300"/>
            <a:ext cx="5460858" cy="2463800"/>
          </a:xfrm>
          <a:prstGeom prst="roundRect">
            <a:avLst>
              <a:gd name="adj" fmla="val 3711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61608" y="2156460"/>
            <a:ext cx="51865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con Yumia DSL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03824" y="3059176"/>
            <a:ext cx="384048" cy="384048"/>
          </a:xfrm>
          <a:prstGeom prst="ellipse">
            <a:avLst/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03824" y="3059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731185" y="2552700"/>
            <a:ext cx="2862072" cy="330200"/>
          </a:xfrm>
          <a:prstGeom prst="roundRect">
            <a:avLst>
              <a:gd name="adj" fmla="val 41538"/>
            </a:avLst>
          </a:prstGeom>
          <a:solidFill>
            <a:srgbClr val="151522"/>
          </a:solidFill>
          <a:ln w="19050">
            <a:solidFill>
              <a:srgbClr val="FF00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31185" y="2552700"/>
            <a:ext cx="2862072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FRAGILE &amp; IMPREVEDIBILE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4185" y="29718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Allucinazioni di coordinate pixel e layout rotti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84185" y="33274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Codice verboso con rischio di sintassi non valida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84185" y="36830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Difficile da vincolare a un design system coerente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4185" y="40386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Revisione manuale complessa per l'utente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99022" y="2552700"/>
            <a:ext cx="2660904" cy="330200"/>
          </a:xfrm>
          <a:prstGeom prst="roundRect">
            <a:avLst>
              <a:gd name="adj" fmla="val 41538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99022" y="2552700"/>
            <a:ext cx="2660904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ROBUSTO &amp; STRUTTURATO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51439" y="29718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Generazione guidata da JSON Schema (yumia schema)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51439" y="33274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Sintassi concisa focalizzata sul contenuto semantico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51439" y="36830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Il motore garantisce allineamenti e layout perfetti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51439" y="40386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Validazione deterministica automatica post-generazione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Funzionalità e Componenti Avanzati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ricco ecosistema integrato senza dipendenze esterne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Icon Provider Multipli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84185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Supporto nativo a oltre 10.000 icone da Lucide, Material, Tabler e FontAwesome.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33228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516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0" name="Text 8"/>
          <p:cNvSpPr/>
          <p:nvPr/>
        </p:nvSpPr>
        <p:spPr>
          <a:xfrm>
            <a:off x="4461828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Diagrammi Integrati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11023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Flowchart direzionali, Sequence diagram, architetture e diagrammi di classi UML.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60065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78353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FFE600"/>
          </a:solidFill>
          <a:ln/>
        </p:spPr>
      </p:sp>
      <p:sp>
        <p:nvSpPr>
          <p:cNvPr id="14" name="Text 12"/>
          <p:cNvSpPr/>
          <p:nvPr/>
        </p:nvSpPr>
        <p:spPr>
          <a:xfrm>
            <a:off x="8288665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Grafici &amp; Timeline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37861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Grafici a barre, ciambella, radar, gauge e timeline storiche generate nativamente.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06390" y="33909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00F0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4678" y="34274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00F0FF"/>
          </a:solidFill>
          <a:ln/>
        </p:spPr>
      </p:sp>
      <p:sp>
        <p:nvSpPr>
          <p:cNvPr id="18" name="Text 16"/>
          <p:cNvSpPr/>
          <p:nvPr/>
        </p:nvSpPr>
        <p:spPr>
          <a:xfrm>
            <a:off x="634990" y="35006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Componenti &amp; Macro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84185" y="39243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Creazione di blocchi riutilizzabili parametrici con la direttiva component.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33228" y="33909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51516" y="34274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22" name="Text 20"/>
          <p:cNvSpPr/>
          <p:nvPr/>
        </p:nvSpPr>
        <p:spPr>
          <a:xfrm>
            <a:off x="4461828" y="35006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Binding 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11023" y="39243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Iterazione dinamica su dataset JSON o CSV per reportistica automatica.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060065" y="33909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FF00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78353" y="34274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FF0055"/>
          </a:solidFill>
          <a:ln/>
        </p:spPr>
      </p:sp>
      <p:sp>
        <p:nvSpPr>
          <p:cNvPr id="26" name="Text 24"/>
          <p:cNvSpPr/>
          <p:nvPr/>
        </p:nvSpPr>
        <p:spPr>
          <a:xfrm>
            <a:off x="8288665" y="35006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Formule Matematiche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37861" y="39243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Rendering di formule scientifiche complesse in sintassi LaTeX / KaTeX.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Compatibilità e Percorso di Migrazione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Continuità garantita tra ecosistema Markdown e Native DSL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5600560" cy="1549400"/>
          </a:xfrm>
          <a:prstGeom prst="roundRect">
            <a:avLst>
              <a:gd name="adj" fmla="val 4721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4762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21290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Markdown Yumia (.yumia.md)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84185" y="2552700"/>
            <a:ext cx="5244969" cy="762000"/>
          </a:xfrm>
          <a:prstGeom prst="roundRect">
            <a:avLst>
              <a:gd name="adj" fmla="val 9600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1345" y="26624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8505" y="26624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95665" y="26624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5353" y="2881884"/>
            <a:ext cx="4842633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:::metric value="99%" label="Uptime" change="+1%" :::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06390" y="3746500"/>
            <a:ext cx="56005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Compatibile con lettori Markdown standard, esteso tramite direttive semantiche.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84745" y="2019300"/>
            <a:ext cx="5600560" cy="1549400"/>
          </a:xfrm>
          <a:prstGeom prst="roundRect">
            <a:avLst>
              <a:gd name="adj" fmla="val 4721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03033" y="2055876"/>
            <a:ext cx="54864" cy="14762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15" name="Text 13"/>
          <p:cNvSpPr/>
          <p:nvPr/>
        </p:nvSpPr>
        <p:spPr>
          <a:xfrm>
            <a:off x="6413345" y="21290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Native Yumia (.yumia)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62541" y="2552700"/>
            <a:ext cx="5244969" cy="762000"/>
          </a:xfrm>
          <a:prstGeom prst="roundRect">
            <a:avLst>
              <a:gd name="adj" fmla="val 9600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99701" y="26624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36861" y="26624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74021" y="26624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63709" y="2881884"/>
            <a:ext cx="4842633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"99%" label="Uptime" diff="+1%"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84745" y="3746500"/>
            <a:ext cx="56005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Sintassi nativa più concisa, pulita e ottimizzata per i Design Compiler.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06390" y="4191000"/>
            <a:ext cx="11378916" cy="965200"/>
          </a:xfrm>
          <a:prstGeom prst="roundRect">
            <a:avLst>
              <a:gd name="adj" fmla="val 7579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9270" y="4337304"/>
            <a:ext cx="11013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Utility di Migrazione Automatica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89270" y="4666488"/>
            <a:ext cx="11013156" cy="361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compilatore include tool di migrazione bidirezionale per consentire un passaggio progressivo senza perdere i contenuti esistenti.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Vantaggi, Limiti e Sviluppi Futuri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Valutazione dello stato attuale e roadmap del progetto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3725240" cy="2120900"/>
          </a:xfrm>
          <a:prstGeom prst="roundRect">
            <a:avLst>
              <a:gd name="adj" fmla="val 3449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20477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Vantaggi Attuali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84185" y="2552700"/>
            <a:ext cx="3369649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Sorgente 100% versionabile con Git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 output compilati da un unico file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Layout e gerarchia visiva garantiti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Linter automatico per design e WCAG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Integrazione nativa con workflow AI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33228" y="2019300"/>
            <a:ext cx="3725240" cy="2120900"/>
          </a:xfrm>
          <a:prstGeom prst="roundRect">
            <a:avLst>
              <a:gd name="adj" fmla="val 3449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516" y="2055876"/>
            <a:ext cx="54864" cy="2047748"/>
          </a:xfrm>
          <a:prstGeom prst="roundRect">
            <a:avLst>
              <a:gd name="adj" fmla="val 50000"/>
            </a:avLst>
          </a:prstGeom>
          <a:solidFill>
            <a:srgbClr val="FFE600"/>
          </a:solidFill>
          <a:ln/>
        </p:spPr>
      </p:sp>
      <p:sp>
        <p:nvSpPr>
          <p:cNvPr id="10" name="Text 8"/>
          <p:cNvSpPr/>
          <p:nvPr/>
        </p:nvSpPr>
        <p:spPr>
          <a:xfrm>
            <a:off x="4461828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Aspetti da Consolidare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11023" y="2552700"/>
            <a:ext cx="3369649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Parità totale di rendering su edge case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Estensione della copertura dei test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Supporto a font e asset esterni complessi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Documentazione di scenari avanzati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60065" y="2019300"/>
            <a:ext cx="3725240" cy="2120900"/>
          </a:xfrm>
          <a:prstGeom prst="roundRect">
            <a:avLst>
              <a:gd name="adj" fmla="val 3449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78353" y="2055876"/>
            <a:ext cx="54864" cy="20477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14" name="Text 12"/>
          <p:cNvSpPr/>
          <p:nvPr/>
        </p:nvSpPr>
        <p:spPr>
          <a:xfrm>
            <a:off x="8288665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Sviluppi Futuri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37861" y="2552700"/>
            <a:ext cx="3369649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Editor visuale WYSIWYG bidirezionale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Collaborazione in tempo reale su browser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Integrazione con modelli LLM in locale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Plugin per VS Code ed estensioni IDE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17440" y="479552"/>
            <a:ext cx="1956816" cy="237744"/>
          </a:xfrm>
          <a:prstGeom prst="roundRect">
            <a:avLst>
              <a:gd name="adj" fmla="val 61538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17440" y="479552"/>
            <a:ext cx="1956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AS CODE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06390" y="808736"/>
            <a:ext cx="1137891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Descrivere ciò che si vuole comunicare,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06390" y="1247648"/>
            <a:ext cx="11378916" cy="239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A7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lasciare al compilatore il compito di comporlo.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6390" y="17018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4678" y="17383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8" name="Text 6"/>
          <p:cNvSpPr/>
          <p:nvPr/>
        </p:nvSpPr>
        <p:spPr>
          <a:xfrm>
            <a:off x="634990" y="18115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Separazione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84185" y="22352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contenuto è completamente disaccoppiato dalle coordinate grafiche.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33228" y="17018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51516" y="17383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2" name="Text 10"/>
          <p:cNvSpPr/>
          <p:nvPr/>
        </p:nvSpPr>
        <p:spPr>
          <a:xfrm>
            <a:off x="4461828" y="18115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Flessibilità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11023" y="22352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singolo sorgente produce Web interattivo, PowerPoint nativo e PDF.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60065" y="17018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78353" y="17383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16" name="Text 14"/>
          <p:cNvSpPr/>
          <p:nvPr/>
        </p:nvSpPr>
        <p:spPr>
          <a:xfrm>
            <a:off x="8288665" y="18115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Futuro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37861" y="22352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ponte naturale tra sviluppatori, designer e intelligenza artificiale.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06390" y="3149600"/>
            <a:ext cx="11378916" cy="774700"/>
          </a:xfrm>
          <a:prstGeom prst="roundRect">
            <a:avLst>
              <a:gd name="adj" fmla="val 9443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9270" y="3295904"/>
            <a:ext cx="11013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Sessione Q&amp;A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89270" y="3625088"/>
            <a:ext cx="1101315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Grazie per l'attenzione. Spazio per domande, chiarimenti e feedback della commissione.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Yumia — Un linguaggio dichiarativo per documenti visivi</dc:title>
  <dc:subject>PptxGenJS Presentation</dc:subject>
  <dc:creator>[Nome e Cognome]</dc:creator>
  <cp:lastModifiedBy>[Nome e Cognome]</cp:lastModifiedBy>
  <cp:revision>1</cp:revision>
  <dcterms:created xsi:type="dcterms:W3CDTF">2026-09-07T08:40:53Z</dcterms:created>
  <dcterms:modified xsi:type="dcterms:W3CDTF">2026-09-07T08:40:53Z</dcterms:modified>
</cp:coreProperties>
</file>