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800" b="0" i="0" u="none" strike="noStrike">
                <a:solidFill>
                  <a:srgbClr val="2C2B29"/>
                </a:solidFill>
                <a:latin typeface="Georgia"/>
              </a:defRPr>
            </a:pPr>
            <a:r>
              <a:rPr sz="1800" b="0" i="0" u="none" strike="noStrike">
                <a:solidFill>
                  <a:srgbClr val="2C2B29"/>
                </a:solidFill>
                <a:latin typeface="Georgia"/>
              </a:rPr>
              <a:t>Inference Acceleration (x Baseline)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Inference Acceleration (x Baseline)</c:v>
                </c:pt>
              </c:strCache>
            </c:strRef>
          </c:tx>
          <c:spPr>
            <a:solidFill>
              <a:srgbClr val="8B00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b000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29b3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c3f60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2e7d32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ResNet-50</c:v>
                  </c:pt>
                  <c:pt idx="1">
                    <c:v>BERT-Large</c:v>
                  </c:pt>
                  <c:pt idx="2">
                    <c:v>LLaMA-7B</c:v>
                  </c:pt>
                  <c:pt idx="3">
                    <c:v>QuantumNet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3.2</c:v>
                </c:pt>
                <c:pt idx="1">
                  <c:v>5.8</c:v>
                </c:pt>
                <c:pt idx="2">
                  <c:v>8.4</c:v>
                </c:pt>
                <c:pt idx="3">
                  <c:v>14.1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>
              <a:solidFill>
                <a:srgbClr val="6B6862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800" b="0" i="0" u="none" strike="noStrike">
                <a:solidFill>
                  <a:srgbClr val="2C2B29"/>
                </a:solidFill>
                <a:latin typeface="Georgia"/>
              </a:defRPr>
            </a:pPr>
            <a:r>
              <a:rPr sz="1800" b="0" i="0" u="none" strike="noStrike">
                <a:solidFill>
                  <a:srgbClr val="2C2B29"/>
                </a:solidFill>
                <a:latin typeface="Georgia"/>
              </a:rPr>
              <a:t>Cluster Resource Utilization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Cluster Resource Utilization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8B0000"/>
              </a:solidFill>
              <a:effectLst/>
            </c:spPr>
          </c:dPt>
          <c:dPt>
            <c:idx val="1"/>
            <c:bubble3D val="0"/>
            <c:spPr>
              <a:solidFill>
                <a:srgbClr val="C29B38"/>
              </a:solidFill>
              <a:effectLst/>
            </c:spPr>
          </c:dPt>
          <c:dPt>
            <c:idx val="2"/>
            <c:bubble3D val="0"/>
            <c:spPr>
              <a:solidFill>
                <a:srgbClr val="1C3F60"/>
              </a:solidFill>
              <a:effectLst/>
            </c:spPr>
          </c:dPt>
          <c:dPt>
            <c:idx val="3"/>
            <c:bubble3D val="0"/>
            <c:spPr>
              <a:solidFill>
                <a:srgbClr val="2E7D32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Tensor Cores</c:v>
                </c:pt>
                <c:pt idx="1">
                  <c:v>Ingestion Mesh</c:v>
                </c:pt>
                <c:pt idx="2">
                  <c:v>Vector DB</c:v>
                </c:pt>
                <c:pt idx="3">
                  <c:v>Reserve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50</c:v>
                </c:pt>
                <c:pt idx="1">
                  <c:v>25</c:v>
                </c:pt>
                <c:pt idx="2">
                  <c:v>15</c:v>
                </c:pt>
                <c:pt idx="3">
                  <c:v>10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>
              <a:solidFill>
                <a:srgbClr val="6B6862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CF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406400"/>
            <a:ext cx="1137891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B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COMPUTER SCIENCE &amp; SYSTEMS LAB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06390" y="790448"/>
            <a:ext cx="1137891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300" b="1" dirty="0">
                <a:solidFill>
                  <a:srgbClr val="2C2B2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Quantum Neural Architecture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406390" y="1503680"/>
            <a:ext cx="1137891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8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Formal Specification of Hybrid Classical-Quantum Distributed Ingestion &amp; Vector Processing Pipelines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495648" y="1943100"/>
            <a:ext cx="3200400" cy="285750"/>
          </a:xfrm>
          <a:prstGeom prst="roundRect">
            <a:avLst>
              <a:gd name="adj" fmla="val 48000"/>
            </a:avLst>
          </a:prstGeom>
          <a:solidFill>
            <a:srgbClr val="F5F2EB"/>
          </a:solidFill>
          <a:ln w="19050">
            <a:solidFill>
              <a:srgbClr val="8B0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495648" y="1943100"/>
            <a:ext cx="32004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V2.4 PRODUCTION SPECIFICATION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6492240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68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YUMIA V0.1.26 •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CF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406400"/>
            <a:ext cx="11378916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8B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Agenda &amp; Table of Contents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406390" y="1155700"/>
            <a:ext cx="1137891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8B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Presentation Outline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06390" y="1750060"/>
            <a:ext cx="5552298" cy="448395"/>
          </a:xfrm>
          <a:prstGeom prst="roundRect">
            <a:avLst>
              <a:gd name="adj" fmla="val 16314"/>
            </a:avLst>
          </a:prstGeom>
          <a:solidFill>
            <a:srgbClr val="F5F2EB"/>
          </a:solidFill>
          <a:ln w="12700">
            <a:solidFill>
              <a:srgbClr val="E0DAC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16118" y="1809665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8B0000"/>
          </a:solidFill>
          <a:ln/>
        </p:spPr>
      </p:sp>
      <p:sp>
        <p:nvSpPr>
          <p:cNvPr id="6" name="Text 4"/>
          <p:cNvSpPr/>
          <p:nvPr/>
        </p:nvSpPr>
        <p:spPr>
          <a:xfrm>
            <a:off x="516118" y="1809665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09310" y="1804924"/>
            <a:ext cx="4957938" cy="338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2B2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Agenda &amp; Table of Contents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33008" y="1750060"/>
            <a:ext cx="5552298" cy="448395"/>
          </a:xfrm>
          <a:prstGeom prst="roundRect">
            <a:avLst>
              <a:gd name="adj" fmla="val 16314"/>
            </a:avLst>
          </a:prstGeom>
          <a:solidFill>
            <a:srgbClr val="F5F2EB"/>
          </a:solidFill>
          <a:ln w="12700">
            <a:solidFill>
              <a:srgbClr val="E0DAC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42736" y="1809665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8B0000"/>
          </a:solidFill>
          <a:ln/>
        </p:spPr>
      </p:sp>
      <p:sp>
        <p:nvSpPr>
          <p:cNvPr id="10" name="Text 8"/>
          <p:cNvSpPr/>
          <p:nvPr/>
        </p:nvSpPr>
        <p:spPr>
          <a:xfrm>
            <a:off x="6342736" y="1809665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735928" y="1804924"/>
            <a:ext cx="4957938" cy="338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2B2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System Topology &amp; Neural Dispatch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06390" y="2308183"/>
            <a:ext cx="5552298" cy="448395"/>
          </a:xfrm>
          <a:prstGeom prst="roundRect">
            <a:avLst>
              <a:gd name="adj" fmla="val 16314"/>
            </a:avLst>
          </a:prstGeom>
          <a:solidFill>
            <a:srgbClr val="F5F2EB"/>
          </a:solidFill>
          <a:ln w="12700">
            <a:solidFill>
              <a:srgbClr val="E0DAC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16118" y="236778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8B0000"/>
          </a:solidFill>
          <a:ln/>
        </p:spPr>
      </p:sp>
      <p:sp>
        <p:nvSpPr>
          <p:cNvPr id="14" name="Text 12"/>
          <p:cNvSpPr/>
          <p:nvPr/>
        </p:nvSpPr>
        <p:spPr>
          <a:xfrm>
            <a:off x="516118" y="236778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09310" y="2363047"/>
            <a:ext cx="4957938" cy="338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2B2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Empirical Performance Evaluation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33008" y="2308183"/>
            <a:ext cx="5552298" cy="448395"/>
          </a:xfrm>
          <a:prstGeom prst="roundRect">
            <a:avLst>
              <a:gd name="adj" fmla="val 16314"/>
            </a:avLst>
          </a:prstGeom>
          <a:solidFill>
            <a:srgbClr val="F5F2EB"/>
          </a:solidFill>
          <a:ln w="12700">
            <a:solidFill>
              <a:srgbClr val="E0DAC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342736" y="236778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8B0000"/>
          </a:solidFill>
          <a:ln/>
        </p:spPr>
      </p:sp>
      <p:sp>
        <p:nvSpPr>
          <p:cNvPr id="18" name="Text 16"/>
          <p:cNvSpPr/>
          <p:nvPr/>
        </p:nvSpPr>
        <p:spPr>
          <a:xfrm>
            <a:off x="6342736" y="236778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735928" y="2363047"/>
            <a:ext cx="4957938" cy="338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2B2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Comparative Analysis &amp; Mathematical Model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06390" y="2866305"/>
            <a:ext cx="5552298" cy="448395"/>
          </a:xfrm>
          <a:prstGeom prst="roundRect">
            <a:avLst>
              <a:gd name="adj" fmla="val 16314"/>
            </a:avLst>
          </a:prstGeom>
          <a:solidFill>
            <a:srgbClr val="F5F2EB"/>
          </a:solidFill>
          <a:ln w="12700">
            <a:solidFill>
              <a:srgbClr val="E0DAC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16118" y="2925911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8B0000"/>
          </a:solidFill>
          <a:ln/>
        </p:spPr>
      </p:sp>
      <p:sp>
        <p:nvSpPr>
          <p:cNvPr id="22" name="Text 20"/>
          <p:cNvSpPr/>
          <p:nvPr/>
        </p:nvSpPr>
        <p:spPr>
          <a:xfrm>
            <a:off x="516118" y="2925911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09310" y="2921169"/>
            <a:ext cx="4957938" cy="338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2B2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Cluster Analytics &amp; Telemetry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233008" y="2866305"/>
            <a:ext cx="5552298" cy="448395"/>
          </a:xfrm>
          <a:prstGeom prst="roundRect">
            <a:avLst>
              <a:gd name="adj" fmla="val 16314"/>
            </a:avLst>
          </a:prstGeom>
          <a:solidFill>
            <a:srgbClr val="F5F2EB"/>
          </a:solidFill>
          <a:ln w="12700">
            <a:solidFill>
              <a:srgbClr val="E0DAC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342736" y="2925911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8B0000"/>
          </a:solidFill>
          <a:ln/>
        </p:spPr>
      </p:sp>
      <p:sp>
        <p:nvSpPr>
          <p:cNvPr id="26" name="Text 24"/>
          <p:cNvSpPr/>
          <p:nvPr/>
        </p:nvSpPr>
        <p:spPr>
          <a:xfrm>
            <a:off x="6342736" y="2925911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735928" y="2921169"/>
            <a:ext cx="4957938" cy="338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2B2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Implementation &amp; Runtime Kernel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457200" y="6492240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68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YUMIA V0.1.26 •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CF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406400"/>
            <a:ext cx="11378916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8B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System Topology &amp; Neural Dispatch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406390" y="1155700"/>
            <a:ext cx="11378916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C2B2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Vector-Compiled Distributed Ingestion Mesh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862619" y="2794000"/>
            <a:ext cx="1024443" cy="9144"/>
          </a:xfrm>
          <a:prstGeom prst="line">
            <a:avLst/>
          </a:prstGeom>
          <a:noFill/>
          <a:ln w="25400">
            <a:solidFill>
              <a:srgbClr val="C29B38"/>
            </a:solidFill>
            <a:prstDash val="solid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4343290" y="2794000"/>
            <a:ext cx="1024443" cy="9144"/>
          </a:xfrm>
          <a:prstGeom prst="line">
            <a:avLst/>
          </a:prstGeom>
          <a:noFill/>
          <a:ln w="25400">
            <a:solidFill>
              <a:srgbClr val="C29B38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4485180" y="2675128"/>
            <a:ext cx="740664" cy="237744"/>
          </a:xfrm>
          <a:prstGeom prst="roundRect">
            <a:avLst>
              <a:gd name="adj" fmla="val 23077"/>
            </a:avLst>
          </a:prstGeom>
          <a:solidFill>
            <a:srgbClr val="F5F2EB"/>
          </a:solidFill>
          <a:ln w="12700">
            <a:solidFill>
              <a:srgbClr val="E0D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485180" y="2675128"/>
            <a:ext cx="7406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B68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TLS 1.3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823962" y="2794000"/>
            <a:ext cx="1024443" cy="9144"/>
          </a:xfrm>
          <a:prstGeom prst="line">
            <a:avLst/>
          </a:prstGeom>
          <a:noFill/>
          <a:ln w="25400">
            <a:solidFill>
              <a:srgbClr val="C29B38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6709819" y="2675128"/>
            <a:ext cx="1252728" cy="237744"/>
          </a:xfrm>
          <a:prstGeom prst="roundRect">
            <a:avLst>
              <a:gd name="adj" fmla="val 23077"/>
            </a:avLst>
          </a:prstGeom>
          <a:solidFill>
            <a:srgbClr val="F5F2EB"/>
          </a:solidFill>
          <a:ln w="12700">
            <a:solidFill>
              <a:srgbClr val="E0DAC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709819" y="2675128"/>
            <a:ext cx="12527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B68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gRPC Streaming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 flipV="1">
            <a:off x="9304634" y="2075180"/>
            <a:ext cx="1024443" cy="718820"/>
          </a:xfrm>
          <a:prstGeom prst="line">
            <a:avLst/>
          </a:prstGeom>
          <a:noFill/>
          <a:ln w="25400">
            <a:solidFill>
              <a:srgbClr val="C29B38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9304634" y="2794000"/>
            <a:ext cx="1024443" cy="718820"/>
          </a:xfrm>
          <a:prstGeom prst="line">
            <a:avLst/>
          </a:prstGeom>
          <a:noFill/>
          <a:ln w="25400">
            <a:solidFill>
              <a:srgbClr val="C29B38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9373371" y="3034538"/>
            <a:ext cx="886968" cy="237744"/>
          </a:xfrm>
          <a:prstGeom prst="roundRect">
            <a:avLst>
              <a:gd name="adj" fmla="val 23077"/>
            </a:avLst>
          </a:prstGeom>
          <a:solidFill>
            <a:srgbClr val="F5F2EB"/>
          </a:solidFill>
          <a:ln w="12700">
            <a:solidFill>
              <a:srgbClr val="E0DAC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373371" y="3034538"/>
            <a:ext cx="8869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B68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Hot Cache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06390" y="2496820"/>
            <a:ext cx="1456229" cy="594360"/>
          </a:xfrm>
          <a:prstGeom prst="roundRect">
            <a:avLst>
              <a:gd name="adj" fmla="val 12308"/>
            </a:avLst>
          </a:prstGeom>
          <a:solidFill>
            <a:srgbClr val="F5F2EB"/>
          </a:solidFill>
          <a:ln w="25400">
            <a:solidFill>
              <a:srgbClr val="8B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1254" y="2551684"/>
            <a:ext cx="1346501" cy="484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C2B2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Edge Sensors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887062" y="2496820"/>
            <a:ext cx="1456229" cy="594360"/>
          </a:xfrm>
          <a:prstGeom prst="roundRect">
            <a:avLst>
              <a:gd name="adj" fmla="val 12308"/>
            </a:avLst>
          </a:prstGeom>
          <a:solidFill>
            <a:srgbClr val="F5F2EB"/>
          </a:solidFill>
          <a:ln w="25400">
            <a:solidFill>
              <a:srgbClr val="C29B3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41926" y="2551684"/>
            <a:ext cx="1346501" cy="484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C2B2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Ingestion Broker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367733" y="2496820"/>
            <a:ext cx="1456229" cy="594360"/>
          </a:xfrm>
          <a:prstGeom prst="roundRect">
            <a:avLst>
              <a:gd name="adj" fmla="val 12308"/>
            </a:avLst>
          </a:prstGeom>
          <a:solidFill>
            <a:srgbClr val="F5F2EB"/>
          </a:solidFill>
          <a:ln w="25400">
            <a:solidFill>
              <a:srgbClr val="C29B3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22597" y="2551684"/>
            <a:ext cx="1346501" cy="484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C2B2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Neural Dispatcher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848405" y="2496820"/>
            <a:ext cx="1456229" cy="594360"/>
          </a:xfrm>
          <a:prstGeom prst="roundRect">
            <a:avLst>
              <a:gd name="adj" fmla="val 12308"/>
            </a:avLst>
          </a:prstGeom>
          <a:solidFill>
            <a:srgbClr val="F5F2EB"/>
          </a:solidFill>
          <a:ln w="25400">
            <a:solidFill>
              <a:srgbClr val="C29B3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903269" y="2551684"/>
            <a:ext cx="1346501" cy="484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C2B2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Quantum Tensor Cores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0329077" y="1778000"/>
            <a:ext cx="1456229" cy="594360"/>
          </a:xfrm>
          <a:prstGeom prst="can">
            <a:avLst>
              <a:gd name="adj" fmla="val 12308"/>
            </a:avLst>
          </a:prstGeom>
          <a:solidFill>
            <a:srgbClr val="F5F2EB"/>
          </a:solidFill>
          <a:ln w="25400">
            <a:solidFill>
              <a:srgbClr val="8B000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466237" y="1869440"/>
            <a:ext cx="1181909" cy="18288"/>
          </a:xfrm>
          <a:prstGeom prst="rect">
            <a:avLst/>
          </a:prstGeom>
          <a:solidFill>
            <a:srgbClr val="8B0000"/>
          </a:solidFill>
          <a:ln w="12700">
            <a:solidFill>
              <a:srgbClr val="8B00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383941" y="1832864"/>
            <a:ext cx="1346501" cy="484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C2B2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Vector Knowledge Base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10329077" y="3215640"/>
            <a:ext cx="1456229" cy="594360"/>
          </a:xfrm>
          <a:prstGeom prst="can">
            <a:avLst>
              <a:gd name="adj" fmla="val 12308"/>
            </a:avLst>
          </a:prstGeom>
          <a:solidFill>
            <a:srgbClr val="F5F2EB"/>
          </a:solidFill>
          <a:ln w="25400">
            <a:solidFill>
              <a:srgbClr val="2E7D3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0466237" y="3307080"/>
            <a:ext cx="1181909" cy="18288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383941" y="3270504"/>
            <a:ext cx="1346501" cy="4846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C2B2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Redis Semantic Cache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57200" y="6492240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68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YUMIA V0.1.26 •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CF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406400"/>
            <a:ext cx="11378916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8B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Empirical Performance Evaluation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406390" y="1155700"/>
            <a:ext cx="11378916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C2B2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Measured Benchmarks Across Compute Clusters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06390" y="1778000"/>
            <a:ext cx="5600560" cy="2120900"/>
          </a:xfrm>
          <a:prstGeom prst="roundRect">
            <a:avLst>
              <a:gd name="adj" fmla="val 3449"/>
            </a:avLst>
          </a:prstGeom>
          <a:solidFill>
            <a:srgbClr val="F5F2EB"/>
          </a:solidFill>
          <a:ln w="19050">
            <a:solidFill>
              <a:srgbClr val="2E7D3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24678" y="1814576"/>
            <a:ext cx="54864" cy="204774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</p:sp>
      <p:sp>
        <p:nvSpPr>
          <p:cNvPr id="6" name="Text 4"/>
          <p:cNvSpPr/>
          <p:nvPr/>
        </p:nvSpPr>
        <p:spPr>
          <a:xfrm>
            <a:off x="634990" y="1942592"/>
            <a:ext cx="514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7D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Inference Latency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09585" y="2362200"/>
            <a:ext cx="5194170" cy="825500"/>
          </a:xfrm>
          <a:prstGeom prst="roundRect">
            <a:avLst>
              <a:gd name="adj" fmla="val 8862"/>
            </a:avLst>
          </a:prstGeom>
          <a:solidFill>
            <a:srgbClr val="F5F2EB"/>
          </a:solidFill>
          <a:ln w="19050">
            <a:solidFill>
              <a:srgbClr val="2E7D3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01025" y="2453640"/>
            <a:ext cx="501129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68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BENCHMARKED SPEEDUP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01025" y="2673096"/>
            <a:ext cx="501129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E7D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1.42ms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609585" y="3365500"/>
            <a:ext cx="519417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2C2B2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End-to-end latency reduction under heavy concurrent load.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6184745" y="1778000"/>
            <a:ext cx="5600560" cy="2324100"/>
          </a:xfrm>
          <a:prstGeom prst="roundRect">
            <a:avLst>
              <a:gd name="adj" fmla="val 3148"/>
            </a:avLst>
          </a:prstGeom>
          <a:solidFill>
            <a:srgbClr val="F5F2EB"/>
          </a:solidFill>
          <a:ln w="19050">
            <a:solidFill>
              <a:srgbClr val="C29B3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03033" y="1814576"/>
            <a:ext cx="54864" cy="2250948"/>
          </a:xfrm>
          <a:prstGeom prst="roundRect">
            <a:avLst>
              <a:gd name="adj" fmla="val 50000"/>
            </a:avLst>
          </a:prstGeom>
          <a:solidFill>
            <a:srgbClr val="C29B38"/>
          </a:solidFill>
          <a:ln/>
        </p:spPr>
      </p:sp>
      <p:sp>
        <p:nvSpPr>
          <p:cNvPr id="13" name="Text 11"/>
          <p:cNvSpPr/>
          <p:nvPr/>
        </p:nvSpPr>
        <p:spPr>
          <a:xfrm>
            <a:off x="6413345" y="1942592"/>
            <a:ext cx="514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29B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Throughput Capacity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387940" y="2362200"/>
            <a:ext cx="5194170" cy="825500"/>
          </a:xfrm>
          <a:prstGeom prst="roundRect">
            <a:avLst>
              <a:gd name="adj" fmla="val 8862"/>
            </a:avLst>
          </a:prstGeom>
          <a:solidFill>
            <a:srgbClr val="F5F2EB"/>
          </a:solidFill>
          <a:ln w="19050">
            <a:solidFill>
              <a:srgbClr val="C29B3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79380" y="2453640"/>
            <a:ext cx="501129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68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BENCHMARKED SPEEDUP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479380" y="2673096"/>
            <a:ext cx="501129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29B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450k op/s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6387940" y="3365500"/>
            <a:ext cx="519417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2C2B2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Peak distributed operations sustained without buffer degradation.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57200" y="6492240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68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YUMIA V0.1.26 •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CF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406400"/>
            <a:ext cx="11378916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8B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Comparative Analysis &amp; Mathematical Model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406390" y="1155700"/>
            <a:ext cx="11378916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C2B2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Formal Energy Convergence Formulation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06390" y="1778000"/>
            <a:ext cx="5506578" cy="2336800"/>
          </a:xfrm>
          <a:prstGeom prst="roundRect">
            <a:avLst>
              <a:gd name="adj" fmla="val 3913"/>
            </a:avLst>
          </a:prstGeom>
          <a:solidFill>
            <a:srgbClr val="F5F2EB"/>
          </a:solidFill>
          <a:ln w="19050">
            <a:solidFill>
              <a:srgbClr val="E0DAC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3550" y="1915160"/>
            <a:ext cx="523225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B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Legacy Classical CPU / GPU Pipeline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278728" y="1778000"/>
            <a:ext cx="5506578" cy="2336800"/>
          </a:xfrm>
          <a:prstGeom prst="roundRect">
            <a:avLst>
              <a:gd name="adj" fmla="val 3913"/>
            </a:avLst>
          </a:prstGeom>
          <a:solidFill>
            <a:srgbClr val="F5F2EB"/>
          </a:solidFill>
          <a:ln w="19050">
            <a:solidFill>
              <a:srgbClr val="E0D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15888" y="1915160"/>
            <a:ext cx="523225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B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Yumia Neural Tensor Pipeline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958688" y="2781808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E0DACD"/>
          </a:solidFill>
          <a:ln/>
        </p:spPr>
      </p:sp>
      <p:sp>
        <p:nvSpPr>
          <p:cNvPr id="9" name="Text 7"/>
          <p:cNvSpPr/>
          <p:nvPr/>
        </p:nvSpPr>
        <p:spPr>
          <a:xfrm>
            <a:off x="5958688" y="278180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68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1876218" y="2216150"/>
            <a:ext cx="2660904" cy="285750"/>
          </a:xfrm>
          <a:prstGeom prst="roundRect">
            <a:avLst>
              <a:gd name="adj" fmla="val 48000"/>
            </a:avLst>
          </a:prstGeom>
          <a:solidFill>
            <a:srgbClr val="F5F2EB"/>
          </a:solidFill>
          <a:ln w="19050">
            <a:solidFill>
              <a:srgbClr val="E651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876218" y="2216150"/>
            <a:ext cx="2660904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651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LEGACY INFRASTRUCTURE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58786" y="2590800"/>
            <a:ext cx="5295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2C2B2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Linear memory scaling with quadratic communication overhead during multi-node synchronization.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558786" y="3136900"/>
            <a:ext cx="5295768" cy="825500"/>
          </a:xfrm>
          <a:prstGeom prst="roundRect">
            <a:avLst>
              <a:gd name="adj" fmla="val 8862"/>
            </a:avLst>
          </a:prstGeom>
          <a:solidFill>
            <a:srgbClr val="F5F2EB"/>
          </a:solidFill>
          <a:ln w="19050">
            <a:solidFill>
              <a:srgbClr val="E651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0226" y="3228340"/>
            <a:ext cx="511288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68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AVG CONVERGENCE TIME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50226" y="3447796"/>
            <a:ext cx="511288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651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68ms</a:t>
            </a:r>
            <a:endParaRPr lang="en-US" sz="2600" dirty="0"/>
          </a:p>
        </p:txBody>
      </p:sp>
      <p:sp>
        <p:nvSpPr>
          <p:cNvPr id="16" name="Shape 14"/>
          <p:cNvSpPr/>
          <p:nvPr/>
        </p:nvSpPr>
        <p:spPr>
          <a:xfrm>
            <a:off x="7553989" y="2216150"/>
            <a:ext cx="2862072" cy="285750"/>
          </a:xfrm>
          <a:prstGeom prst="roundRect">
            <a:avLst>
              <a:gd name="adj" fmla="val 48000"/>
            </a:avLst>
          </a:prstGeom>
          <a:solidFill>
            <a:srgbClr val="F5F2EB"/>
          </a:solidFill>
          <a:ln w="19050">
            <a:solidFill>
              <a:srgbClr val="2E7D3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553989" y="2216150"/>
            <a:ext cx="2862072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7D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DISTRIBUTED TENSOR CORE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337142" y="2590800"/>
            <a:ext cx="5295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2C2B2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Logarithmic latency scaling leveraging quantum sparse tensor compression.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6337142" y="3136900"/>
            <a:ext cx="5295768" cy="825500"/>
          </a:xfrm>
          <a:prstGeom prst="roundRect">
            <a:avLst>
              <a:gd name="adj" fmla="val 8862"/>
            </a:avLst>
          </a:prstGeom>
          <a:solidFill>
            <a:srgbClr val="F5F2EB"/>
          </a:solidFill>
          <a:ln w="19050">
            <a:solidFill>
              <a:srgbClr val="2E7D3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28582" y="3228340"/>
            <a:ext cx="511288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68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AVG CONVERGENCE TIME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428582" y="3447796"/>
            <a:ext cx="511288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E7D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4.1ms</a:t>
            </a:r>
            <a:endParaRPr lang="en-US" sz="2600" dirty="0"/>
          </a:p>
        </p:txBody>
      </p:sp>
      <p:sp>
        <p:nvSpPr>
          <p:cNvPr id="22" name="Shape 20"/>
          <p:cNvSpPr/>
          <p:nvPr/>
        </p:nvSpPr>
        <p:spPr>
          <a:xfrm>
            <a:off x="406390" y="4292600"/>
            <a:ext cx="11378916" cy="571500"/>
          </a:xfrm>
          <a:prstGeom prst="roundRect">
            <a:avLst>
              <a:gd name="adj" fmla="val 12800"/>
            </a:avLst>
          </a:prstGeom>
          <a:solidFill>
            <a:srgbClr val="F5F2EB"/>
          </a:solidFill>
          <a:ln w="15240">
            <a:solidFill>
              <a:srgbClr val="E0DAC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06390" y="4292600"/>
            <a:ext cx="54864" cy="571500"/>
          </a:xfrm>
          <a:prstGeom prst="rect">
            <a:avLst/>
          </a:prstGeom>
          <a:solidFill>
            <a:srgbClr val="8B0000"/>
          </a:solidFill>
          <a:ln w="12700">
            <a:solidFill>
              <a:srgbClr val="8B00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3550" y="4292600"/>
            <a:ext cx="11104596" cy="57150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2C2B29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\mathcal{L}(\theta) = \mathbb{E}_{x \sim \mathcal{D}} \left[ \| f_\theta(x) - y \|_2^2 \right] + \lambda \sum_{i=1}^N \Omega(W_i)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457200" y="6492240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68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YUMIA V0.1.26 •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CF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406400"/>
            <a:ext cx="11378916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8B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Cluster Analytics &amp; Telemetry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406390" y="1155700"/>
            <a:ext cx="11378916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C2B2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Resource Allocation &amp; Workload Distribution</a:t>
            </a:r>
            <a:endParaRPr lang="en-US" sz="3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06390" y="1778000"/>
          <a:ext cx="5600560" cy="1778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Chart 1" descr=""/>
          <p:cNvGraphicFramePr/>
          <p:nvPr/>
        </p:nvGraphicFramePr>
        <p:xfrm>
          <a:off x="6184745" y="1778000"/>
          <a:ext cx="5600560" cy="1778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 2"/>
          <p:cNvSpPr/>
          <p:nvPr/>
        </p:nvSpPr>
        <p:spPr>
          <a:xfrm>
            <a:off x="457200" y="6492240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68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YUMIA V0.1.26 •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CF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406400"/>
            <a:ext cx="11378916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8B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Implementation &amp; Runtime Kernel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406390" y="1155700"/>
            <a:ext cx="11378916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C2B2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Zero-Trust Mesh &amp; Compiler Directives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06390" y="1778000"/>
            <a:ext cx="6720672" cy="838200"/>
          </a:xfrm>
          <a:prstGeom prst="roundRect">
            <a:avLst>
              <a:gd name="adj" fmla="val 8727"/>
            </a:avLst>
          </a:prstGeom>
          <a:solidFill>
            <a:srgbClr val="2C2B29"/>
          </a:solidFill>
          <a:ln w="19050">
            <a:solidFill>
              <a:srgbClr val="E0DAC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3550" y="1887728"/>
            <a:ext cx="91440" cy="9144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0710" y="1887728"/>
            <a:ext cx="91440" cy="9144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17870" y="1887728"/>
            <a:ext cx="91440" cy="9144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89270" y="2070608"/>
            <a:ext cx="6354912" cy="472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5F2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{ YumiaCompiler, createEngine } from '@yumiamd/core';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5F2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engine = createEngine({ target: 'multi-target' });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5F2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result = await engine.compile('presentation.yumia');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7304857" y="1778000"/>
            <a:ext cx="4480448" cy="831850"/>
          </a:xfrm>
          <a:prstGeom prst="roundRect">
            <a:avLst>
              <a:gd name="adj" fmla="val 8794"/>
            </a:avLst>
          </a:prstGeom>
          <a:solidFill>
            <a:srgbClr val="F5F2EB"/>
          </a:solidFill>
          <a:ln w="25400">
            <a:solidFill>
              <a:srgbClr val="2E7D3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442017" y="1851152"/>
            <a:ext cx="42061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Production Verified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442017" y="2171192"/>
            <a:ext cx="4206128" cy="36550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C2B2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All cluster nodes reporting optimal throughput with zero memory leaks.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516381" y="2787650"/>
            <a:ext cx="2057400" cy="285750"/>
          </a:xfrm>
          <a:prstGeom prst="roundRect">
            <a:avLst>
              <a:gd name="adj" fmla="val 48000"/>
            </a:avLst>
          </a:prstGeom>
          <a:solidFill>
            <a:srgbClr val="F5F2EB"/>
          </a:solidFill>
          <a:ln w="19050">
            <a:solidFill>
              <a:srgbClr val="2E7D3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16381" y="2787650"/>
            <a:ext cx="2057400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7D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ZERO-TRUST MTLS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8415797" y="3251200"/>
            <a:ext cx="2258568" cy="285750"/>
          </a:xfrm>
          <a:prstGeom prst="roundRect">
            <a:avLst>
              <a:gd name="adj" fmla="val 48000"/>
            </a:avLst>
          </a:prstGeom>
          <a:solidFill>
            <a:srgbClr val="F5F2EB"/>
          </a:solidFill>
          <a:ln w="19050">
            <a:solidFill>
              <a:srgbClr val="8B00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15797" y="3251200"/>
            <a:ext cx="2258568" cy="285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WCAG AAA VERIFIED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92240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68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YUMIA V0.1.26 • CONFIDENTIAL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Quantum Neural Processing &amp; Distributed Visual Intelligence</dc:title>
  <dc:subject>PptxGenJS Presentation</dc:subject>
  <dc:creator>Biagio Scaglia</dc:creator>
  <cp:lastModifiedBy>Biagio Scaglia</cp:lastModifiedBy>
  <cp:revision>1</cp:revision>
  <dcterms:created xsi:type="dcterms:W3CDTF">2026-09-06T09:54:35Z</dcterms:created>
  <dcterms:modified xsi:type="dcterms:W3CDTF">2026-09-06T09:54:35Z</dcterms:modified>
</cp:coreProperties>
</file>