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 a questa presentazione su Yumia.
Oggi esploreremo come Yumia ridefinisce la creazione di presentazioni tecniche introducendo il concetto di Design Compiler: un approccio dichiarativo in cui l'autore descrive l'intento comunicativo e il compilatore genera output multipiattaforma garantiti e coerenti.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tool tradizionali come PowerPoint o Canva costringono gli sviluppatori a gestire manualmente pixel, forme e coordinate. Questo genera file binari pesanti e non versionabili con Git.
Inoltre, quando chiediamo a un'intelligenza artificiale di creare una slide in HTML/CSS grezzo, i risultati visivi sono spesso rotti o disallineati perché il modello non controlla la geometria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Yumia introduce il concetto di Design Intent. Invece di posizionare pixel a mano, usiamo blocchi semantici come hero, card, compare o chart.
Il motore di layout si occupa di calcolare spazi, allineamenti e palette cromatiche, garantendo che il risultato finale sia sempre professionale e privo di difetti visivi.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un solo file sorgente possiamo compilare verso tre formati completamente diversi:
1) HTML interattivo con navigazione e speaker view per presentare direttamente da browser;
2) PowerPoint con forme native e testo modificabile per i colleghi o clienti;
3) PDF vettoriale pronto per la stampa o la condivisione formale.
Nessun bisogno di riscrivere o ricreare le slide da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pipeline di Yumia si ispira ai compilatori tradizionali:
1. Il Parser analizza il file sorgente e genera l'AST;
2. Il Design Linter controlla contrasti, densità e accessibilità;
3. Il Theme Engine risolve palette, font e icone;
4. Il Layout Engine calcola bounding box e posizioni in coordinate assolute;
5. I Renderer emettono il codice nativo per ciascun formato di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L'AST non memorizza 'rettangolo blu a x=100 y=200', ma memorizza 'Elemento Card con variante Accent e ruolo primario'.
Questo disaccoppiamento permette ai renderer di interpretare lo stesso elemento semantico nel modo più efficace per ogni formato di destinazione.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potete vedere da questo frammento, il codice Native Yumia è essenziale e intuitivo.
Con poche righe dichiariamo il documento, il tema, una slide con titolo hero e una griglia con tre metriche.
Non c'è bisogno di scrivere codice CSS, div annidati o coordinate numeriche.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fondamentale sottolineare come lavorano i tre renderer:
L'HTML offre interattività e speaker view;
Il renderer PPTX non incolla immagini, ma genera veri oggetti e forme vettoriali OpenXML modificabili all'interno di Microsoft PowerPoint;
Il renderer PDF produce documenti vettoriali perfetti per la stampa e l'archiviazione.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Proprio come usiamo ESLint o i compilatori per trovare errori logici nel codice sorgente, il Design Linter di Yumia analizza le slide per individuare problemi di design: testo troppo denso, scarso contrasto cromatico o sovrapposizioni, restituendo suggerimenti operativi.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CLI di Yumia offre un set completo di comandi:
- validate ed explain per analizzare sintassi e ritmo visivo;
- dev per avere un server locale con hot-reload e inspector;
- check per eseguire l'audit di contrasto e densità;
- build e deploy per compilare e pubblicare in automatico nei pipeline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LLM hanno difficoltà a calcolare geometrie esatte e layout CSS complessi. Con Yumia, il modello di AI deve solo generare blocchi semantici concisi come card o compare.
Il compilatore si fa carico di renderizzare tutto alla perfezione, riducendo drasticamente il tasso di allucinazioni e codice malformato.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Yumia integra direttamente nella sintassi diagrammi di flusso, diagrammi di sequenza, grafici di dati, timeline e formule matematiche LaTeX.
Questo elimina la necessità di fare screenshot da tool esterni o incollare immagini a bassa risoluzione.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Yumia offre una doppia compatibilità:
supporta sia file Markdown standard con blocchi di direttive, sia la nuova sintassi Native Yumia, più concisa e priva di boilerplate.
Un tool di migrazione integrato consente di convertire i file in modo completamente trasparente.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importante mantenere uno sguardo critico e trasparente sullo stato del progetto:
Yumia ha già solidi punti di forza nella versionabilità e nella compilazione multi-target.
I prossimi passi si concentreranno sull'affinamento dei casi limite nei renderer e sullo sviluppo di estensioni IDE e funzionalità di collaborazione in tempo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conclusione, Yumia dimostra come i principi dell'ingegneria del software — compilatori, AST, linter e separazione delle responsabilità — possano essere applicati con successo alla comunicazione visiva.
Grazie per l'attenzione: sono a vostra completa disposizione per domande e approfondimenti tecnici.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148" y="479552"/>
            <a:ext cx="2057400" cy="237744"/>
          </a:xfrm>
          <a:prstGeom prst="roundRect">
            <a:avLst>
              <a:gd name="adj" fmla="val 61538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67148" y="479552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COMPILER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90" y="808736"/>
            <a:ext cx="113789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06390" y="1247648"/>
            <a:ext cx="11378916" cy="23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linguaggio dichiarativo per documenti visivi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90" y="1701800"/>
            <a:ext cx="1137891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[Nome e Cognome]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problema delle presentazioni tecniche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Perché creare slide tecniche è complesso e inefficiente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5506578" cy="3479800"/>
          </a:xfrm>
          <a:prstGeom prst="roundRect">
            <a:avLst>
              <a:gd name="adj" fmla="val 2628"/>
            </a:avLst>
          </a:prstGeom>
          <a:solidFill>
            <a:srgbClr val="151522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3550" y="2156460"/>
            <a:ext cx="5232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Approccio Tradizionale (WYSIWYG / Manuale)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2019300"/>
            <a:ext cx="5506578" cy="3479800"/>
          </a:xfrm>
          <a:prstGeom prst="roundRect">
            <a:avLst>
              <a:gd name="adj" fmla="val 2628"/>
            </a:avLst>
          </a:prstGeom>
          <a:solidFill>
            <a:srgbClr val="151522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5888" y="2156460"/>
            <a:ext cx="5232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Problemi &amp; Limiti Strutturali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58688" y="35946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2E48"/>
          </a:solidFill>
          <a:ln/>
        </p:spPr>
      </p:sp>
      <p:sp>
        <p:nvSpPr>
          <p:cNvPr id="9" name="Text 7"/>
          <p:cNvSpPr/>
          <p:nvPr/>
        </p:nvSpPr>
        <p:spPr>
          <a:xfrm>
            <a:off x="5958688" y="3594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6470" y="2552700"/>
            <a:ext cx="3200400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6470" y="2552700"/>
            <a:ext cx="32004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VISUALI &amp; SLIDE EDITOR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4185" y="2971800"/>
            <a:ext cx="524496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Disposizione manuale di box di testo e forme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4185" y="3429000"/>
            <a:ext cx="524496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Formattazione incoerente che degrada nel tempo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4185" y="3886200"/>
            <a:ext cx="524496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File binari opachi non versionabili con Git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4185" y="43434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Rischio costante di disallineamenti tra formati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03697" y="2552700"/>
            <a:ext cx="2962656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FF0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3697" y="2552700"/>
            <a:ext cx="2962656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ATTRITI DI SVILUPPO &amp;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2541" y="2971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riutilizzabilità tra documentazione e slide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2541" y="3733800"/>
            <a:ext cx="524496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Frammentazione tra Markdown, HTML e PPTX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62541" y="41910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Gli LLM faticano a generare layout geometrici stabili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2541" y="4953000"/>
            <a:ext cx="524496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Nessun test automatico di qualità visiva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soluzione: Il Design Compiler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Dall'intento comunicativo alla composizione automatica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3674441" cy="2628900"/>
          </a:xfrm>
          <a:prstGeom prst="roundRect">
            <a:avLst>
              <a:gd name="adj" fmla="val 2783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25557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Intento vs Geometria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84" y="2705100"/>
            <a:ext cx="3217253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diciamo al computer 'disegna un rettangolo a coordinate (x,y)', ma 'crea una Card per evidenziare una funzionalità'.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8627" y="2019300"/>
            <a:ext cx="3674441" cy="2324100"/>
          </a:xfrm>
          <a:prstGeom prst="roundRect">
            <a:avLst>
              <a:gd name="adj" fmla="val 3148"/>
            </a:avLst>
          </a:prstGeom>
          <a:solidFill>
            <a:srgbClr val="15152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6915" y="2055876"/>
            <a:ext cx="54864" cy="225094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4487227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Componenti Semantici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7221" y="2705100"/>
            <a:ext cx="3217253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Primitive di alto livello: hero, metric, card, grid, compare, timeline, chart e diagram.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0864" y="2019300"/>
            <a:ext cx="3674441" cy="2324100"/>
          </a:xfrm>
          <a:prstGeom prst="roundRect">
            <a:avLst>
              <a:gd name="adj" fmla="val 3148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9152" y="2055876"/>
            <a:ext cx="54864" cy="2250948"/>
          </a:xfrm>
          <a:prstGeom prst="roundRect">
            <a:avLst>
              <a:gd name="adj" fmla="val 50000"/>
            </a:avLst>
          </a:prstGeom>
          <a:solidFill>
            <a:srgbClr val="00FF9F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464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Deterministico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458" y="2705100"/>
            <a:ext cx="3217253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motore di calcolo automatico distribuisce spazi, gap, contrasti e gerarchie visive senza overflow.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6390" y="5003800"/>
            <a:ext cx="11378916" cy="831850"/>
          </a:xfrm>
          <a:prstGeom prst="roundRect">
            <a:avLst>
              <a:gd name="adj" fmla="val 8794"/>
            </a:avLst>
          </a:prstGeom>
          <a:solidFill>
            <a:srgbClr val="151522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550" y="5076952"/>
            <a:ext cx="11104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Cambio di paradigma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3550" y="5396992"/>
            <a:ext cx="11104596" cy="36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Yumia separa radicalmente il contenuto dal rendering visivo: lo sviluppatore scrive la semantica, il compilatore applica il design system.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Un'unica sorgente, più formati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Compilazione Multi-Target da una Singola Sorgente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6390" y="2019300"/>
            <a:ext cx="113789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Flusso di Trasformazione Multi-Target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69778" y="2433168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4091" y="2433168"/>
            <a:ext cx="9144" cy="1091336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4091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01535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3524504"/>
            <a:ext cx="9144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3291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227604" y="3160725"/>
            <a:ext cx="9144" cy="363779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7604" y="3160725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3291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7604" y="3524504"/>
            <a:ext cx="9144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7604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3291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7604" y="3524504"/>
            <a:ext cx="9144" cy="363779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7604" y="3888283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26648" y="2311908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2E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1512" y="2366772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Sorgente Yu…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58404" y="3403244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3268" y="3458108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 Semanti…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0161" y="3403244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025" y="3458108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21917" y="3039466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6781" y="3094330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Intera…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21917" y="3403244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6781" y="3458108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PowerPoint 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21917" y="3767023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6781" y="3821887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Vettori…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26648" y="2675687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2E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81512" y="2730551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Sorgente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26648" y="3039466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1512" y="3094330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26648" y="3403244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E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81512" y="3458108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26648" y="3767023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00FF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81512" y="3821887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26648" y="4130802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2E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1512" y="4185666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PowerPoint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26648" y="4494581"/>
            <a:ext cx="943130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00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1512" y="4549445"/>
            <a:ext cx="833402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06390" y="4914900"/>
            <a:ext cx="11378916" cy="831850"/>
          </a:xfrm>
          <a:prstGeom prst="roundRect">
            <a:avLst>
              <a:gd name="adj" fmla="val 8794"/>
            </a:avLst>
          </a:prstGeom>
          <a:solidFill>
            <a:srgbClr val="151522"/>
          </a:solidFill>
          <a:ln w="25400">
            <a:solidFill>
              <a:srgbClr val="00FF9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3550" y="4988052"/>
            <a:ext cx="11104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 Single Source of Truth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3550" y="5308092"/>
            <a:ext cx="11104596" cy="36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unico file di testo (.yumia) compilabile istantaneamente per il web, per presentazioni aziendali modificabili e per la stampa/distribuzione fissa.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 della Pipeline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Dalla sintassi al rendering finale: la pipeline a 7 stadi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6390" y="2019300"/>
            <a:ext cx="113789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di Compilazione Deterministica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782933" y="2433168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77246" y="2433168"/>
            <a:ext cx="9144" cy="1091336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77246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92234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6547" y="3524504"/>
            <a:ext cx="9144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6547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01535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3524504"/>
            <a:ext cx="9144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10835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5148" y="3524504"/>
            <a:ext cx="9144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05148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0136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4449" y="3524504"/>
            <a:ext cx="9144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4449" y="3524504"/>
            <a:ext cx="94313" cy="9144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62258" y="2311908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2E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7122" y="2366772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Sorgente DSL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71559" y="3403244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6423" y="3458108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Parser AST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80860" y="3403244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5724" y="3458108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Lint…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0161" y="3403244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025" y="3458108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 Engine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99461" y="3403244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4325" y="3458108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Engi…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08762" y="3403244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63626" y="3458108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Renderer Mu…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62258" y="2675687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2E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7122" y="2730551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Sorgente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62258" y="3039466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17122" y="3094330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62258" y="3403244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E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17122" y="3458108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62258" y="3767023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2E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7122" y="3821887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62258" y="4130802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FF2E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17122" y="4185666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62258" y="4494581"/>
            <a:ext cx="920675" cy="242519"/>
          </a:xfrm>
          <a:prstGeom prst="roundRect">
            <a:avLst>
              <a:gd name="adj" fmla="val 30163"/>
            </a:avLst>
          </a:prstGeom>
          <a:solidFill>
            <a:srgbClr val="151522"/>
          </a:solidFill>
          <a:ln w="25400">
            <a:solidFill>
              <a:srgbClr val="00FF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17122" y="4549445"/>
            <a:ext cx="810947" cy="132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06390" y="4914900"/>
            <a:ext cx="11378916" cy="831850"/>
          </a:xfrm>
          <a:prstGeom prst="roundRect">
            <a:avLst>
              <a:gd name="adj" fmla="val 8794"/>
            </a:avLst>
          </a:prstGeom>
          <a:solidFill>
            <a:srgbClr val="151522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3550" y="4988052"/>
            <a:ext cx="11104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deterministica a passate isolate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3550" y="5308092"/>
            <a:ext cx="11104596" cy="36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stadio trasforma il modello dati in modo puro: dal parsing sintattico all'AST, dal controllo qualità al calcolo geometrico e all'emissione su DOM, OpenXML o PDFKit.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L'AST e il Design Intent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Rappresentazione intermedia del significato e della struttura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5600560" cy="4051300"/>
          </a:xfrm>
          <a:prstGeom prst="roundRect">
            <a:avLst>
              <a:gd name="adj" fmla="val 1806"/>
            </a:avLst>
          </a:prstGeom>
          <a:solidFill>
            <a:srgbClr val="15152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397814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514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AST: Abstract Syntax Tree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84" y="2705100"/>
            <a:ext cx="5143371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Struttura dati intermedia ad albero che incapsula il contenuto, la gerarchia logica e i vincoli semantici di presentazione.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30014" y="3860800"/>
            <a:ext cx="1353312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0014" y="3860800"/>
            <a:ext cx="1353312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EMPHASIS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0306" y="4368800"/>
            <a:ext cx="1252728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0306" y="4368800"/>
            <a:ext cx="1252728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79722" y="4876800"/>
            <a:ext cx="1453896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9722" y="4876800"/>
            <a:ext cx="1453896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8030" y="5384800"/>
            <a:ext cx="1097280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8030" y="5384800"/>
            <a:ext cx="109728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4745" y="2019300"/>
            <a:ext cx="5600560" cy="3962400"/>
          </a:xfrm>
          <a:prstGeom prst="roundRect">
            <a:avLst>
              <a:gd name="adj" fmla="val 1846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3033" y="2055876"/>
            <a:ext cx="54864" cy="38892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13345" y="2129028"/>
            <a:ext cx="514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Componenti Semantici Astratti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3340" y="2705100"/>
            <a:ext cx="5143371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Struttura: Hero, Heading, Paragraph, Columns, Grid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3340" y="3556000"/>
            <a:ext cx="5143371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Dati &amp; Logica: Metric, Card, Compare, Timeline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3340" y="4406900"/>
            <a:ext cx="5143371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Visuali: Diagram, Sequence, Class, Chart, Table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13340" y="5257800"/>
            <a:ext cx="514337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Annotazioni: Badge, Callout, Math, Notes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 di Codice Native Yumia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Sintassi pulita, dichiarativa e basata su indentazione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6160616" cy="1905000"/>
          </a:xfrm>
          <a:prstGeom prst="roundRect">
            <a:avLst>
              <a:gd name="adj" fmla="val 3840"/>
            </a:avLst>
          </a:prstGeom>
          <a:solidFill>
            <a:srgbClr val="07070D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3550" y="21290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0710" y="21290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7870" y="21290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270" y="2311908"/>
            <a:ext cx="5794856" cy="153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"Yumia Demo"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 "cyberpunk"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aspectRatio "16:9"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"Yumia in azione"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 title="Design Compiler" subtitle="Dall'intento al documento visivo" badge="Demo"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columns=3 gap=20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"1" label="Sorgente"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"3" label="Formati"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"0" label="Layout manuale"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44801" y="2019300"/>
            <a:ext cx="5040504" cy="4267200"/>
          </a:xfrm>
          <a:prstGeom prst="roundRect">
            <a:avLst>
              <a:gd name="adj" fmla="val 1714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3089" y="2055876"/>
            <a:ext cx="54864" cy="41940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11" name="Text 9"/>
          <p:cNvSpPr/>
          <p:nvPr/>
        </p:nvSpPr>
        <p:spPr>
          <a:xfrm>
            <a:off x="6973401" y="2129028"/>
            <a:ext cx="4583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Caratteristiche del linguaggio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73396" y="2705100"/>
            <a:ext cx="4583315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Struttura gerarchica pulita basata sull'indentazione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73396" y="3556000"/>
            <a:ext cx="4583315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Componenti semantici senza CSS a basso livello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3396" y="4406900"/>
            <a:ext cx="4583315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Nessun tag HTML di chiusura o sintassi verbosa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73396" y="5257800"/>
            <a:ext cx="4583315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Perfettamente leggibile e modificabile in qualsiasi editor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Tre Output Principali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Generazione nativa e specializzata per ogni ecosistema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3674441" cy="4267200"/>
          </a:xfrm>
          <a:prstGeom prst="roundRect">
            <a:avLst>
              <a:gd name="adj" fmla="val 1991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41940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HtmlRenderer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84" y="27051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Presentazione web interattiva SPA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84" y="35560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Navigazione da tastiera e fullscreen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84" y="44069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Modalità Speaker View con note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84" y="52578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Inspector visuale in tempo reale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8627" y="2019300"/>
            <a:ext cx="3674441" cy="4267200"/>
          </a:xfrm>
          <a:prstGeom prst="roundRect">
            <a:avLst>
              <a:gd name="adj" fmla="val 1991"/>
            </a:avLst>
          </a:prstGeom>
          <a:solidFill>
            <a:srgbClr val="15152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6915" y="2055876"/>
            <a:ext cx="54864" cy="419404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7227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PptxRenderer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7221" y="27051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Forme OpenXML native e testo modificabile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7221" y="35560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Tabelle, card e grafici nativi Office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7221" y="44069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screenshot o immagini statiche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7221" y="52578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Modificabile su PowerPoint / Keynote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10864" y="2019300"/>
            <a:ext cx="3674441" cy="4267200"/>
          </a:xfrm>
          <a:prstGeom prst="roundRect">
            <a:avLst>
              <a:gd name="adj" fmla="val 1991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152" y="2055876"/>
            <a:ext cx="54864" cy="4194048"/>
          </a:xfrm>
          <a:prstGeom prst="roundRect">
            <a:avLst>
              <a:gd name="adj" fmla="val 50000"/>
            </a:avLst>
          </a:prstGeom>
          <a:solidFill>
            <a:srgbClr val="00FF9F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464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PdfRenderer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9458" y="27051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Rendering vettoriale ad alta definizione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9458" y="35560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Layout e tipografia rigorosamente fissati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9458" y="44069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Ideale per dispense, esami e stampa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39458" y="52578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Dimensioni del file ottimizzate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Linter e Qualità Visiva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Analysis per la leggibilità e l'accessibilità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5600560" cy="3594100"/>
          </a:xfrm>
          <a:prstGeom prst="roundRect">
            <a:avLst>
              <a:gd name="adj" fmla="val 2035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35209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514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Controlli Automatici di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84" y="2705100"/>
            <a:ext cx="514337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Densità informativa e carico cognitivo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84" y="3251200"/>
            <a:ext cx="514337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Verifica slide vuote o incomplete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84" y="3797300"/>
            <a:ext cx="514337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Contrasto testo/sfondo secondo standard WCAG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84" y="4343400"/>
            <a:ext cx="514337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Rispetto della Safe Area e margini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984" y="4889500"/>
            <a:ext cx="514337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Calcolo del Visual Score da 0 a 100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4745" y="2019300"/>
            <a:ext cx="5600560" cy="2057400"/>
          </a:xfrm>
          <a:prstGeom prst="roundRect">
            <a:avLst>
              <a:gd name="adj" fmla="val 3556"/>
            </a:avLst>
          </a:prstGeom>
          <a:solidFill>
            <a:srgbClr val="151522"/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3033" y="2055876"/>
            <a:ext cx="54864" cy="1984248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13345" y="2129028"/>
            <a:ext cx="514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Esempio di Diagnostica CLI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13340" y="2705100"/>
            <a:ext cx="5143371" cy="1016000"/>
          </a:xfrm>
          <a:prstGeom prst="roundRect">
            <a:avLst>
              <a:gd name="adj" fmla="val 7200"/>
            </a:avLst>
          </a:prstGeom>
          <a:solidFill>
            <a:srgbClr val="07070D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50500" y="28148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7660" y="28148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24820" y="28148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96220" y="2997708"/>
            <a:ext cx="4777611" cy="65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[YUM004] Alta densità informativa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slide contiene troppi elementi complessi.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Suggerimento: dividere la slide o usare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griglia di metriche.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6390" y="5791200"/>
            <a:ext cx="11378916" cy="654050"/>
          </a:xfrm>
          <a:prstGeom prst="roundRect">
            <a:avLst>
              <a:gd name="adj" fmla="val 11184"/>
            </a:avLst>
          </a:prstGeom>
          <a:solidFill>
            <a:srgbClr val="151522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550" y="5864352"/>
            <a:ext cx="11104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Prevenzione prima della build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3550" y="6184392"/>
            <a:ext cx="11104596" cy="187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linter intercetta difetti grafici, errori tipografici e problemi di leggibilità prima di distribuire la presentazione.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e Workflow di Sviluppo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L'esperienza di sviluppo pensata per sviluppatori e CI/CD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3674441" cy="1701800"/>
          </a:xfrm>
          <a:prstGeom prst="roundRect">
            <a:avLst>
              <a:gd name="adj" fmla="val 4299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16286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Scrittura &amp; Validazione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4984" y="2705100"/>
            <a:ext cx="3217253" cy="660400"/>
          </a:xfrm>
          <a:prstGeom prst="roundRect">
            <a:avLst>
              <a:gd name="adj" fmla="val 11077"/>
            </a:avLst>
          </a:prstGeom>
          <a:solidFill>
            <a:srgbClr val="07070D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144" y="28148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304" y="28148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6464" y="28148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864" y="2997708"/>
            <a:ext cx="2851493" cy="29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yumia validate pres.yumia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yumia explain pres.yumia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58627" y="2019300"/>
            <a:ext cx="3674441" cy="1701800"/>
          </a:xfrm>
          <a:prstGeom prst="roundRect">
            <a:avLst>
              <a:gd name="adj" fmla="val 4299"/>
            </a:avLst>
          </a:prstGeom>
          <a:solidFill>
            <a:srgbClr val="15152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6915" y="2055876"/>
            <a:ext cx="54864" cy="162864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7227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Live Dev &amp; Audit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7221" y="2705100"/>
            <a:ext cx="3217253" cy="660400"/>
          </a:xfrm>
          <a:prstGeom prst="roundRect">
            <a:avLst>
              <a:gd name="adj" fmla="val 11077"/>
            </a:avLst>
          </a:prstGeom>
          <a:solidFill>
            <a:srgbClr val="07070D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4381" y="28148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1541" y="28148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8701" y="28148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0101" y="2997708"/>
            <a:ext cx="2851493" cy="29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yumia dev pres.yumia --open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yumia check --optimize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10864" y="2019300"/>
            <a:ext cx="3674441" cy="1701800"/>
          </a:xfrm>
          <a:prstGeom prst="roundRect">
            <a:avLst>
              <a:gd name="adj" fmla="val 4299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9152" y="2055876"/>
            <a:ext cx="54864" cy="1628648"/>
          </a:xfrm>
          <a:prstGeom prst="roundRect">
            <a:avLst>
              <a:gd name="adj" fmla="val 50000"/>
            </a:avLst>
          </a:prstGeom>
          <a:solidFill>
            <a:srgbClr val="00FF9F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464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Build &amp; Deploy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39458" y="2705100"/>
            <a:ext cx="3217253" cy="660400"/>
          </a:xfrm>
          <a:prstGeom prst="roundRect">
            <a:avLst>
              <a:gd name="adj" fmla="val 11077"/>
            </a:avLst>
          </a:prstGeom>
          <a:solidFill>
            <a:srgbClr val="07070D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76618" y="28148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13778" y="28148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50938" y="28148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2338" y="2997708"/>
            <a:ext cx="2851493" cy="29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yumia build --format pptx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yumia deploy --provider gh-pages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6390" y="4076700"/>
            <a:ext cx="11378916" cy="654050"/>
          </a:xfrm>
          <a:prstGeom prst="roundRect">
            <a:avLst>
              <a:gd name="adj" fmla="val 11184"/>
            </a:avLst>
          </a:prstGeom>
          <a:solidFill>
            <a:srgbClr val="151522"/>
          </a:solidFill>
          <a:ln w="25400">
            <a:solidFill>
              <a:srgbClr val="00FF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550" y="4149852"/>
            <a:ext cx="11104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integrabile in CI/CD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3550" y="4469892"/>
            <a:ext cx="11104596" cy="187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commit su Git può validare le slide, generare la documentazione HTML e pubblicare la versione aggiornata su GitHub Pages.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e Intelligenza Artificiale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Perché i linguaggi dichiarativi semantici superano l'HTML grezzo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5506578" cy="4089400"/>
          </a:xfrm>
          <a:prstGeom prst="roundRect">
            <a:avLst>
              <a:gd name="adj" fmla="val 2236"/>
            </a:avLst>
          </a:prstGeom>
          <a:solidFill>
            <a:srgbClr val="151522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3550" y="2156460"/>
            <a:ext cx="5232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 HTML / CSS Grezzo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2019300"/>
            <a:ext cx="5506578" cy="4089400"/>
          </a:xfrm>
          <a:prstGeom prst="roundRect">
            <a:avLst>
              <a:gd name="adj" fmla="val 2236"/>
            </a:avLst>
          </a:prstGeom>
          <a:solidFill>
            <a:srgbClr val="151522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5888" y="2156460"/>
            <a:ext cx="5232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 Yumia DSL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58688" y="38994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2E48"/>
          </a:solidFill>
          <a:ln/>
        </p:spPr>
      </p:sp>
      <p:sp>
        <p:nvSpPr>
          <p:cNvPr id="9" name="Text 7"/>
          <p:cNvSpPr/>
          <p:nvPr/>
        </p:nvSpPr>
        <p:spPr>
          <a:xfrm>
            <a:off x="5958688" y="3899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75634" y="2552700"/>
            <a:ext cx="2862072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FF0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5634" y="2552700"/>
            <a:ext cx="2862072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FRAGILE &amp; IMPREVEDIBILE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4185" y="2971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Allucinazioni di coordinate pixel e layout rotti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4185" y="3733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Codice verboso con rischio di sintassi non valida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4185" y="4495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Difficile da vincolare a un design system coerente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4185" y="5257800"/>
            <a:ext cx="524496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Revisione manuale complessa per l'utente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54573" y="2552700"/>
            <a:ext cx="2660904" cy="330200"/>
          </a:xfrm>
          <a:prstGeom prst="roundRect">
            <a:avLst>
              <a:gd name="adj" fmla="val 41538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4573" y="2552700"/>
            <a:ext cx="2660904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ROBUSTO &amp; STRUTTURATO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2541" y="2971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Generazione guidata da JSON Schema (yumia schema)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2541" y="3733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Sintassi concisa focalizzata sul contenuto semantico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62541" y="4495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Il motore garantisce allineamenti e layout perfetti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2541" y="5257800"/>
            <a:ext cx="5244969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Validazione deterministica automatica post-generazione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Funzionalità e Componenti Avanzati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ricco ecosistema integrato senza dipendenze esterne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Icon Provider Multipli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84" y="27051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Supporto nativo a oltre 10.000 icone da Lucide, Material, Tabler e FontAwesome.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8627" y="20193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6915" y="20558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4487227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Diagrammi Integrati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7221" y="27051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direzionali, Sequence diagram, architetture e diagrammi di classi UML.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0864" y="20193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9152" y="20558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464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Grafici &amp; Timeline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458" y="27051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Grafici a barre, ciambella, radar, gauge e timeline storiche generate nativamente.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6390" y="42164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4678" y="42529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4990" y="43261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Componenti &amp; Macro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984" y="49022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Creazione di blocchi riutilizzabili parametrici con la direttiva component.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58627" y="42164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6915" y="42529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00FF9F"/>
          </a:solidFill>
          <a:ln/>
        </p:spPr>
      </p:sp>
      <p:sp>
        <p:nvSpPr>
          <p:cNvPr id="22" name="Text 20"/>
          <p:cNvSpPr/>
          <p:nvPr/>
        </p:nvSpPr>
        <p:spPr>
          <a:xfrm>
            <a:off x="4487227" y="43261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Binding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7221" y="49022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Iterazione dinamica su dataset JSON o CSV per reportistica automatica.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10864" y="42164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FF00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9152" y="42529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FF0055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464" y="43261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Formule Matematiche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9458" y="49022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Rendering di formule scientifiche complesse in sintassi LaTeX / KaTeX.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Compatibilità e Percorso di Migrazione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Continuità garantita tra ecosistema Markdown e Native DSL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5600560" cy="1524000"/>
          </a:xfrm>
          <a:prstGeom prst="roundRect">
            <a:avLst>
              <a:gd name="adj" fmla="val 4800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14508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514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Yumia (.yumia.md)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4984" y="2705100"/>
            <a:ext cx="5143371" cy="482600"/>
          </a:xfrm>
          <a:prstGeom prst="roundRect">
            <a:avLst>
              <a:gd name="adj" fmla="val 15158"/>
            </a:avLst>
          </a:prstGeom>
          <a:solidFill>
            <a:srgbClr val="07070D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144" y="28148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304" y="28148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6464" y="28148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864" y="2997708"/>
            <a:ext cx="4777611" cy="116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:::metric value="99%" label="Uptime" change="+1%" :::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6390" y="3721100"/>
            <a:ext cx="560056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Compatibile con lettori Markdown standard, esteso tramite direttive semantiche.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4745" y="2019300"/>
            <a:ext cx="5600560" cy="1524000"/>
          </a:xfrm>
          <a:prstGeom prst="roundRect">
            <a:avLst>
              <a:gd name="adj" fmla="val 4800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3033" y="2055876"/>
            <a:ext cx="54864" cy="1450848"/>
          </a:xfrm>
          <a:prstGeom prst="roundRect">
            <a:avLst>
              <a:gd name="adj" fmla="val 50000"/>
            </a:avLst>
          </a:prstGeom>
          <a:solidFill>
            <a:srgbClr val="00FF9F"/>
          </a:solidFill>
          <a:ln/>
        </p:spPr>
      </p:sp>
      <p:sp>
        <p:nvSpPr>
          <p:cNvPr id="15" name="Text 13"/>
          <p:cNvSpPr/>
          <p:nvPr/>
        </p:nvSpPr>
        <p:spPr>
          <a:xfrm>
            <a:off x="6413345" y="2129028"/>
            <a:ext cx="514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Yumia (.yumia)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13340" y="2705100"/>
            <a:ext cx="5143371" cy="482600"/>
          </a:xfrm>
          <a:prstGeom prst="roundRect">
            <a:avLst>
              <a:gd name="adj" fmla="val 15158"/>
            </a:avLst>
          </a:prstGeom>
          <a:solidFill>
            <a:srgbClr val="07070D"/>
          </a:solidFill>
          <a:ln w="19050">
            <a:solidFill>
              <a:srgbClr val="2E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0500" y="28148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87660" y="28148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24820" y="28148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6220" y="2997708"/>
            <a:ext cx="4777611" cy="116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"99%" label="Uptime" diff="+1%"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84745" y="3721100"/>
            <a:ext cx="560056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Sintassi nativa più concisa, pulita e ottimizzata per i Design Compiler.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6390" y="4572000"/>
            <a:ext cx="11378916" cy="831850"/>
          </a:xfrm>
          <a:prstGeom prst="roundRect">
            <a:avLst>
              <a:gd name="adj" fmla="val 8794"/>
            </a:avLst>
          </a:prstGeom>
          <a:solidFill>
            <a:srgbClr val="151522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550" y="4645152"/>
            <a:ext cx="11104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Utility di Migrazione Automatica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3550" y="4965192"/>
            <a:ext cx="11104596" cy="36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compilatore include tool di migrazione bidirezionale per consentire un passaggio progressivo senza perdere i contenuti esistenti.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Vantaggi, Limiti e Sviluppi Futuri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6390" y="1282700"/>
            <a:ext cx="113789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Valutazione dello stato attuale e roadmap del progetto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19300"/>
            <a:ext cx="3674441" cy="5118100"/>
          </a:xfrm>
          <a:prstGeom prst="roundRect">
            <a:avLst>
              <a:gd name="adj" fmla="val 1991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4678" y="2055876"/>
            <a:ext cx="54864" cy="5044948"/>
          </a:xfrm>
          <a:prstGeom prst="roundRect">
            <a:avLst>
              <a:gd name="adj" fmla="val 50000"/>
            </a:avLst>
          </a:prstGeom>
          <a:solidFill>
            <a:srgbClr val="00FF9F"/>
          </a:solidFill>
          <a:ln/>
        </p:spPr>
      </p:sp>
      <p:sp>
        <p:nvSpPr>
          <p:cNvPr id="6" name="Text 4"/>
          <p:cNvSpPr/>
          <p:nvPr/>
        </p:nvSpPr>
        <p:spPr>
          <a:xfrm>
            <a:off x="634990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Vantaggi Attuali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84" y="27051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Sorgente 100% versionabile con Git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84" y="35560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Tre output compilati da un unico 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84" y="44069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Layout e gerarchia visiva garantiti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84" y="52578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Linter automatico per design e WCAG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984" y="61087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Integrazione nativa con workflow 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8627" y="2019300"/>
            <a:ext cx="3674441" cy="4267200"/>
          </a:xfrm>
          <a:prstGeom prst="roundRect">
            <a:avLst>
              <a:gd name="adj" fmla="val 1991"/>
            </a:avLst>
          </a:prstGeom>
          <a:solidFill>
            <a:srgbClr val="151522"/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6915" y="2055876"/>
            <a:ext cx="54864" cy="4194048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7227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Aspetti da Consolidare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7221" y="27051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Parità totale di rendering su edge case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7221" y="35560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Estensione della copertura dei test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7221" y="44069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Supporto a font e asset esterni complessi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7221" y="52578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Documentazione di scenari avanzati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0864" y="2019300"/>
            <a:ext cx="3674441" cy="4267200"/>
          </a:xfrm>
          <a:prstGeom prst="roundRect">
            <a:avLst>
              <a:gd name="adj" fmla="val 1991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152" y="2055876"/>
            <a:ext cx="54864" cy="41940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464" y="21290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Sviluppi Futuri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9458" y="27051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Editor visuale WYSIWYG bidirezionale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9458" y="35560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Collaborazione in tempo reale su browser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39458" y="44069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Integrazione con modelli LLM in locale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458" y="5257800"/>
            <a:ext cx="321725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Plugin per VS Code ed estensioni 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17440" y="479552"/>
            <a:ext cx="1956816" cy="237744"/>
          </a:xfrm>
          <a:prstGeom prst="roundRect">
            <a:avLst>
              <a:gd name="adj" fmla="val 61538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17440" y="47955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AS CODE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90" y="808736"/>
            <a:ext cx="113789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Descrivere ciò che si vuole comunicare,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06390" y="1247648"/>
            <a:ext cx="11378916" cy="23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lasciare al compilatore il compito di comporlo.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6390" y="17018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4678" y="17383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/>
        </p:spPr>
      </p:sp>
      <p:sp>
        <p:nvSpPr>
          <p:cNvPr id="8" name="Text 6"/>
          <p:cNvSpPr/>
          <p:nvPr/>
        </p:nvSpPr>
        <p:spPr>
          <a:xfrm>
            <a:off x="634990" y="18115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Separazione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984" y="23876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contenuto è completamente disaccoppiato dalle coordinate grafiche.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8627" y="17018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6915" y="17383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87227" y="18115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Flessibilità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7221" y="23876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singolo sorgente produce Web interattivo, PowerPoint nativo e PDF.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0864" y="1701800"/>
            <a:ext cx="3674441" cy="2019300"/>
          </a:xfrm>
          <a:prstGeom prst="roundRect">
            <a:avLst>
              <a:gd name="adj" fmla="val 3623"/>
            </a:avLst>
          </a:prstGeom>
          <a:solidFill>
            <a:srgbClr val="151522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9152" y="1738376"/>
            <a:ext cx="54864" cy="1946148"/>
          </a:xfrm>
          <a:prstGeom prst="roundRect">
            <a:avLst>
              <a:gd name="adj" fmla="val 50000"/>
            </a:avLst>
          </a:prstGeom>
          <a:solidFill>
            <a:srgbClr val="00FF9F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464" y="1811528"/>
            <a:ext cx="3217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Futuro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9458" y="2387600"/>
            <a:ext cx="321725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ponte naturale tra sviluppatori, designer e intelligenza artificiale.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6390" y="4076700"/>
            <a:ext cx="11378916" cy="654050"/>
          </a:xfrm>
          <a:prstGeom prst="roundRect">
            <a:avLst>
              <a:gd name="adj" fmla="val 11184"/>
            </a:avLst>
          </a:prstGeom>
          <a:solidFill>
            <a:srgbClr val="151522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550" y="4149852"/>
            <a:ext cx="11104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Sessione Q&amp;A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3550" y="4469892"/>
            <a:ext cx="11104596" cy="187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Grazie per l'attenzione. Spazio per domande, chiarimenti e feedback della commissione.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A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YUMIA • DESIGN COMPILER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Yumia — Un linguaggio dichiarativo per documenti visivi</dc:title>
  <dc:subject>PptxGenJS Presentation</dc:subject>
  <dc:creator>[Nome e Cognome]</dc:creator>
  <cp:lastModifiedBy>[Nome e Cognome]</cp:lastModifiedBy>
  <cp:revision>1</cp:revision>
  <dcterms:created xsi:type="dcterms:W3CDTF">2026-09-06T22:31:42Z</dcterms:created>
  <dcterms:modified xsi:type="dcterms:W3CDTF">2026-09-06T22:31:42Z</dcterms:modified>
</cp:coreProperties>
</file>