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800" b="0" i="0" u="none" strike="noStrike">
                <a:solidFill>
                  <a:srgbClr val="2C2B29"/>
                </a:solidFill>
                <a:latin typeface="Georgia"/>
              </a:defRPr>
            </a:pPr>
            <a:r>
              <a:rPr sz="1800" b="0" i="0" u="none" strike="noStrike">
                <a:solidFill>
                  <a:srgbClr val="2C2B29"/>
                </a:solidFill>
                <a:latin typeface="Georgia"/>
              </a:rPr>
              <a:t>Inference Acceleration (x Baseline)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Inference Acceleration (x Baseline)</c:v>
                </c:pt>
              </c:strCache>
            </c:strRef>
          </c:tx>
          <c:spPr>
            <a:solidFill>
              <a:srgbClr val="8B000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8b0000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c29b3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c3f60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2e7d32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ResNet-50</c:v>
                  </c:pt>
                  <c:pt idx="1">
                    <c:v>BERT-Large</c:v>
                  </c:pt>
                  <c:pt idx="2">
                    <c:v>LLaMA-7B</c:v>
                  </c:pt>
                  <c:pt idx="3">
                    <c:v>QuantumNet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3.2</c:v>
                </c:pt>
                <c:pt idx="1">
                  <c:v>5.8</c:v>
                </c:pt>
                <c:pt idx="2">
                  <c:v>8.4</c:v>
                </c:pt>
                <c:pt idx="3">
                  <c:v>14.1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>
              <a:solidFill>
                <a:srgbClr val="6B6862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800" b="0" i="0" u="none" strike="noStrike">
                <a:solidFill>
                  <a:srgbClr val="2C2B29"/>
                </a:solidFill>
                <a:latin typeface="Georgia"/>
              </a:defRPr>
            </a:pPr>
            <a:r>
              <a:rPr sz="1800" b="0" i="0" u="none" strike="noStrike">
                <a:solidFill>
                  <a:srgbClr val="2C2B29"/>
                </a:solidFill>
                <a:latin typeface="Georgia"/>
              </a:rPr>
              <a:t>Cluster Resource Utilization</a:t>
            </a:r>
          </a:p>
        </c:rich>
      </c:tx>
      <c:layout/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Cluster Resource Utilization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8B0000"/>
              </a:solidFill>
              <a:effectLst/>
            </c:spPr>
          </c:dPt>
          <c:dPt>
            <c:idx val="1"/>
            <c:bubble3D val="0"/>
            <c:spPr>
              <a:solidFill>
                <a:srgbClr val="C29B38"/>
              </a:solidFill>
              <a:effectLst/>
            </c:spPr>
          </c:dPt>
          <c:dPt>
            <c:idx val="2"/>
            <c:bubble3D val="0"/>
            <c:spPr>
              <a:solidFill>
                <a:srgbClr val="1C3F60"/>
              </a:solidFill>
              <a:effectLst/>
            </c:spPr>
          </c:dPt>
          <c:dPt>
            <c:idx val="3"/>
            <c:bubble3D val="0"/>
            <c:spPr>
              <a:solidFill>
                <a:srgbClr val="2E7D32"/>
              </a:solidFill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Sheet1!$A$2:$A$5</c:f>
              <c:strCache>
                <c:ptCount val="4"/>
                <c:pt idx="0">
                  <c:v>Tensor Cores</c:v>
                </c:pt>
                <c:pt idx="1">
                  <c:v>Ingestion Mesh</c:v>
                </c:pt>
                <c:pt idx="2">
                  <c:v>Vector DB</c:v>
                </c:pt>
                <c:pt idx="3">
                  <c:v>Reserve</c:v>
                </c:pt>
              </c:strCache>
            </c:strRef>
          </c:cat>
          <c:val>
            <c:numRef>
              <c:f>Sheet1!$B$2:$B$5</c:f>
              <c:numCache>
                <c:ptCount val="4"/>
                <c:pt idx="0">
                  <c:v>50</c:v>
                </c:pt>
                <c:pt idx="1">
                  <c:v>25</c:v>
                </c:pt>
                <c:pt idx="2">
                  <c:v>15</c:v>
                </c:pt>
                <c:pt idx="3">
                  <c:v>10</c:v>
                </c:pt>
              </c:numCache>
            </c:numRef>
          </c:val>
        </c:ser>
        <c:firstSliceAng val="0"/>
        <c:holeSize val="50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>
              <a:solidFill>
                <a:srgbClr val="6B6862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CFB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06390" y="406400"/>
            <a:ext cx="11378916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200" b="1" dirty="0">
                <a:solidFill>
                  <a:srgbClr val="8B00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Research Overview</a:t>
            </a:r>
            <a:endParaRPr lang="en-US" sz="4200" dirty="0"/>
          </a:p>
        </p:txBody>
      </p:sp>
      <p:sp>
        <p:nvSpPr>
          <p:cNvPr id="3" name="Text 1"/>
          <p:cNvSpPr/>
          <p:nvPr/>
        </p:nvSpPr>
        <p:spPr>
          <a:xfrm>
            <a:off x="406390" y="1155700"/>
            <a:ext cx="1137891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B00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COMPUTER SCIENCE &amp; SYSTEMS LAB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06390" y="1521460"/>
            <a:ext cx="11378916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2C2B2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Quantum Neural Architecture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406390" y="2390140"/>
            <a:ext cx="11378916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B686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Formal Specification of Hybrid Classical-Quantum Distributed Ingestion &amp; Vector Processing Pipelines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406390" y="2508250"/>
            <a:ext cx="2286000" cy="285750"/>
          </a:xfrm>
          <a:prstGeom prst="roundRect">
            <a:avLst>
              <a:gd name="adj" fmla="val 48000"/>
            </a:avLst>
          </a:prstGeom>
          <a:solidFill>
            <a:srgbClr val="F5F2EB"/>
          </a:solidFill>
          <a:ln w="19050">
            <a:solidFill>
              <a:srgbClr val="8B00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06390" y="2508250"/>
            <a:ext cx="2286000" cy="285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B00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V2.4 PRODUCTION SPECIFICATION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6492240"/>
            <a:ext cx="11277295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B686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YUMIA V0.1.26 •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CFB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06390" y="406400"/>
            <a:ext cx="11378916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200" b="1" dirty="0">
                <a:solidFill>
                  <a:srgbClr val="8B00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Agenda &amp; Table of Contents</a:t>
            </a:r>
            <a:endParaRPr lang="en-US" sz="4200" dirty="0"/>
          </a:p>
        </p:txBody>
      </p:sp>
      <p:sp>
        <p:nvSpPr>
          <p:cNvPr id="3" name="Text 1"/>
          <p:cNvSpPr/>
          <p:nvPr/>
        </p:nvSpPr>
        <p:spPr>
          <a:xfrm>
            <a:off x="406390" y="1155700"/>
            <a:ext cx="1137891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8B00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Presentation Outline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406390" y="1750060"/>
            <a:ext cx="5552298" cy="308864"/>
          </a:xfrm>
          <a:prstGeom prst="roundRect">
            <a:avLst>
              <a:gd name="adj" fmla="val 23684"/>
            </a:avLst>
          </a:prstGeom>
          <a:solidFill>
            <a:srgbClr val="F5F2EB"/>
          </a:solidFill>
          <a:ln w="12700">
            <a:solidFill>
              <a:srgbClr val="E0DAC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16118" y="1739900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8B0000"/>
          </a:solidFill>
          <a:ln/>
        </p:spPr>
      </p:sp>
      <p:sp>
        <p:nvSpPr>
          <p:cNvPr id="6" name="Text 4"/>
          <p:cNvSpPr/>
          <p:nvPr/>
        </p:nvSpPr>
        <p:spPr>
          <a:xfrm>
            <a:off x="516118" y="1739900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909310" y="1804924"/>
            <a:ext cx="4957938" cy="199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C2B2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Research Overview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233008" y="1750060"/>
            <a:ext cx="5552298" cy="308864"/>
          </a:xfrm>
          <a:prstGeom prst="roundRect">
            <a:avLst>
              <a:gd name="adj" fmla="val 23684"/>
            </a:avLst>
          </a:prstGeom>
          <a:solidFill>
            <a:srgbClr val="F5F2EB"/>
          </a:solidFill>
          <a:ln w="12700">
            <a:solidFill>
              <a:srgbClr val="E0DACD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342736" y="1739900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8B0000"/>
          </a:solidFill>
          <a:ln/>
        </p:spPr>
      </p:sp>
      <p:sp>
        <p:nvSpPr>
          <p:cNvPr id="10" name="Text 8"/>
          <p:cNvSpPr/>
          <p:nvPr/>
        </p:nvSpPr>
        <p:spPr>
          <a:xfrm>
            <a:off x="6342736" y="1739900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735928" y="1804924"/>
            <a:ext cx="4957938" cy="199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C2B2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Agenda &amp; Table of Contents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06390" y="2168652"/>
            <a:ext cx="5552298" cy="308864"/>
          </a:xfrm>
          <a:prstGeom prst="roundRect">
            <a:avLst>
              <a:gd name="adj" fmla="val 23684"/>
            </a:avLst>
          </a:prstGeom>
          <a:solidFill>
            <a:srgbClr val="F5F2EB"/>
          </a:solidFill>
          <a:ln w="12700">
            <a:solidFill>
              <a:srgbClr val="E0DACD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16118" y="2158492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8B0000"/>
          </a:solidFill>
          <a:ln/>
        </p:spPr>
      </p:sp>
      <p:sp>
        <p:nvSpPr>
          <p:cNvPr id="14" name="Text 12"/>
          <p:cNvSpPr/>
          <p:nvPr/>
        </p:nvSpPr>
        <p:spPr>
          <a:xfrm>
            <a:off x="516118" y="2158492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909310" y="2223516"/>
            <a:ext cx="4957938" cy="199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C2B2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System Topology &amp; Neural Dispatch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233008" y="2168652"/>
            <a:ext cx="5552298" cy="308864"/>
          </a:xfrm>
          <a:prstGeom prst="roundRect">
            <a:avLst>
              <a:gd name="adj" fmla="val 23684"/>
            </a:avLst>
          </a:prstGeom>
          <a:solidFill>
            <a:srgbClr val="F5F2EB"/>
          </a:solidFill>
          <a:ln w="12700">
            <a:solidFill>
              <a:srgbClr val="E0DAC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342736" y="2158492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8B0000"/>
          </a:solidFill>
          <a:ln/>
        </p:spPr>
      </p:sp>
      <p:sp>
        <p:nvSpPr>
          <p:cNvPr id="18" name="Text 16"/>
          <p:cNvSpPr/>
          <p:nvPr/>
        </p:nvSpPr>
        <p:spPr>
          <a:xfrm>
            <a:off x="6342736" y="2158492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735928" y="2223516"/>
            <a:ext cx="4957938" cy="199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C2B2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Empirical Performance Evaluation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06390" y="2587244"/>
            <a:ext cx="5552298" cy="308864"/>
          </a:xfrm>
          <a:prstGeom prst="roundRect">
            <a:avLst>
              <a:gd name="adj" fmla="val 23684"/>
            </a:avLst>
          </a:prstGeom>
          <a:solidFill>
            <a:srgbClr val="F5F2EB"/>
          </a:solidFill>
          <a:ln w="12700">
            <a:solidFill>
              <a:srgbClr val="E0DACD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16118" y="2577084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8B0000"/>
          </a:solidFill>
          <a:ln/>
        </p:spPr>
      </p:sp>
      <p:sp>
        <p:nvSpPr>
          <p:cNvPr id="22" name="Text 20"/>
          <p:cNvSpPr/>
          <p:nvPr/>
        </p:nvSpPr>
        <p:spPr>
          <a:xfrm>
            <a:off x="516118" y="2577084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909310" y="2642108"/>
            <a:ext cx="4957938" cy="199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C2B2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Comparative Analysis &amp; Mathematical Model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6233008" y="2587244"/>
            <a:ext cx="5552298" cy="308864"/>
          </a:xfrm>
          <a:prstGeom prst="roundRect">
            <a:avLst>
              <a:gd name="adj" fmla="val 23684"/>
            </a:avLst>
          </a:prstGeom>
          <a:solidFill>
            <a:srgbClr val="F5F2EB"/>
          </a:solidFill>
          <a:ln w="12700">
            <a:solidFill>
              <a:srgbClr val="E0DACD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342736" y="2577084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8B0000"/>
          </a:solidFill>
          <a:ln/>
        </p:spPr>
      </p:sp>
      <p:sp>
        <p:nvSpPr>
          <p:cNvPr id="26" name="Text 24"/>
          <p:cNvSpPr/>
          <p:nvPr/>
        </p:nvSpPr>
        <p:spPr>
          <a:xfrm>
            <a:off x="6342736" y="2577084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6735928" y="2642108"/>
            <a:ext cx="4957938" cy="199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C2B2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Cluster Analytics &amp; Telemetry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06390" y="3005836"/>
            <a:ext cx="5552298" cy="308864"/>
          </a:xfrm>
          <a:prstGeom prst="roundRect">
            <a:avLst>
              <a:gd name="adj" fmla="val 23684"/>
            </a:avLst>
          </a:prstGeom>
          <a:solidFill>
            <a:srgbClr val="F5F2EB"/>
          </a:solidFill>
          <a:ln w="12700">
            <a:solidFill>
              <a:srgbClr val="E0DACD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16118" y="2995676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8B0000"/>
          </a:solidFill>
          <a:ln/>
        </p:spPr>
      </p:sp>
      <p:sp>
        <p:nvSpPr>
          <p:cNvPr id="30" name="Text 28"/>
          <p:cNvSpPr/>
          <p:nvPr/>
        </p:nvSpPr>
        <p:spPr>
          <a:xfrm>
            <a:off x="516118" y="2995676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909310" y="3060700"/>
            <a:ext cx="4957938" cy="199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C2B2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Implementation &amp; Runtime Kernel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457200" y="6492240"/>
            <a:ext cx="11277295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B686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YUMIA V0.1.26 •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CFB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06390" y="406400"/>
            <a:ext cx="11378916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200" b="1" dirty="0">
                <a:solidFill>
                  <a:srgbClr val="8B00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System Topology &amp; Neural Dispatch</a:t>
            </a:r>
            <a:endParaRPr lang="en-US" sz="4200" dirty="0"/>
          </a:p>
        </p:txBody>
      </p:sp>
      <p:sp>
        <p:nvSpPr>
          <p:cNvPr id="3" name="Text 1"/>
          <p:cNvSpPr/>
          <p:nvPr/>
        </p:nvSpPr>
        <p:spPr>
          <a:xfrm>
            <a:off x="406390" y="1155700"/>
            <a:ext cx="11378916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C2B2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Vector-Compiled Distributed Ingestion Mesh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1862619" y="2794000"/>
            <a:ext cx="1024443" cy="9144"/>
          </a:xfrm>
          <a:prstGeom prst="line">
            <a:avLst/>
          </a:prstGeom>
          <a:noFill/>
          <a:ln w="25400">
            <a:solidFill>
              <a:srgbClr val="C29B38"/>
            </a:solidFill>
            <a:prstDash val="solid"/>
            <a:tailEnd type="triangle"/>
          </a:ln>
        </p:spPr>
      </p:sp>
      <p:sp>
        <p:nvSpPr>
          <p:cNvPr id="5" name="Shape 3"/>
          <p:cNvSpPr/>
          <p:nvPr/>
        </p:nvSpPr>
        <p:spPr>
          <a:xfrm>
            <a:off x="4343290" y="2794000"/>
            <a:ext cx="1024443" cy="9144"/>
          </a:xfrm>
          <a:prstGeom prst="line">
            <a:avLst/>
          </a:prstGeom>
          <a:noFill/>
          <a:ln w="25400">
            <a:solidFill>
              <a:srgbClr val="C29B38"/>
            </a:solidFill>
            <a:prstDash val="solid"/>
            <a:tailEnd type="triangle"/>
          </a:ln>
        </p:spPr>
      </p:sp>
      <p:sp>
        <p:nvSpPr>
          <p:cNvPr id="6" name="Text 4"/>
          <p:cNvSpPr/>
          <p:nvPr/>
        </p:nvSpPr>
        <p:spPr>
          <a:xfrm>
            <a:off x="4489752" y="265684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6862"/>
                </a:solidFill>
              </a:rPr>
              <a:t>TLS 1.3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6823962" y="2794000"/>
            <a:ext cx="1024443" cy="9144"/>
          </a:xfrm>
          <a:prstGeom prst="line">
            <a:avLst/>
          </a:prstGeom>
          <a:noFill/>
          <a:ln w="25400">
            <a:solidFill>
              <a:srgbClr val="C29B38"/>
            </a:solidFill>
            <a:prstDash val="solid"/>
            <a:tailEnd type="triangle"/>
          </a:ln>
        </p:spPr>
      </p:sp>
      <p:sp>
        <p:nvSpPr>
          <p:cNvPr id="8" name="Text 6"/>
          <p:cNvSpPr/>
          <p:nvPr/>
        </p:nvSpPr>
        <p:spPr>
          <a:xfrm>
            <a:off x="6970423" y="265684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6862"/>
                </a:solidFill>
              </a:rPr>
              <a:t>gRPC Streaming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 flipV="1">
            <a:off x="9304634" y="2075180"/>
            <a:ext cx="1024443" cy="718820"/>
          </a:xfrm>
          <a:prstGeom prst="line">
            <a:avLst/>
          </a:prstGeom>
          <a:noFill/>
          <a:ln w="25400">
            <a:solidFill>
              <a:srgbClr val="C29B38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9304634" y="2794000"/>
            <a:ext cx="1024443" cy="718820"/>
          </a:xfrm>
          <a:prstGeom prst="line">
            <a:avLst/>
          </a:prstGeom>
          <a:noFill/>
          <a:ln w="25400">
            <a:solidFill>
              <a:srgbClr val="C29B38"/>
            </a:solidFill>
            <a:prstDash val="solid"/>
            <a:tailEnd type="triangle"/>
          </a:ln>
        </p:spPr>
      </p:sp>
      <p:sp>
        <p:nvSpPr>
          <p:cNvPr id="11" name="Text 9"/>
          <p:cNvSpPr/>
          <p:nvPr/>
        </p:nvSpPr>
        <p:spPr>
          <a:xfrm>
            <a:off x="9451095" y="301625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6862"/>
                </a:solidFill>
              </a:rPr>
              <a:t>Hot Cache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06390" y="2496820"/>
            <a:ext cx="1456229" cy="594360"/>
          </a:xfrm>
          <a:prstGeom prst="roundRect">
            <a:avLst>
              <a:gd name="adj" fmla="val 12308"/>
            </a:avLst>
          </a:prstGeom>
          <a:solidFill>
            <a:srgbClr val="F5F2EB"/>
          </a:solidFill>
          <a:ln w="25400">
            <a:solidFill>
              <a:srgbClr val="8B000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2110" y="2542540"/>
            <a:ext cx="1364789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C2B2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Edge Sensors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2887062" y="2496820"/>
            <a:ext cx="1456229" cy="594360"/>
          </a:xfrm>
          <a:prstGeom prst="roundRect">
            <a:avLst>
              <a:gd name="adj" fmla="val 12308"/>
            </a:avLst>
          </a:prstGeom>
          <a:solidFill>
            <a:srgbClr val="F5F2EB"/>
          </a:solidFill>
          <a:ln w="25400">
            <a:solidFill>
              <a:srgbClr val="C29B3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932782" y="2542540"/>
            <a:ext cx="1364789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C2B2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Ingestion Broker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367733" y="2496820"/>
            <a:ext cx="1456229" cy="594360"/>
          </a:xfrm>
          <a:prstGeom prst="roundRect">
            <a:avLst>
              <a:gd name="adj" fmla="val 12308"/>
            </a:avLst>
          </a:prstGeom>
          <a:solidFill>
            <a:srgbClr val="F5F2EB"/>
          </a:solidFill>
          <a:ln w="25400">
            <a:solidFill>
              <a:srgbClr val="C29B3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413453" y="2542540"/>
            <a:ext cx="1364789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C2B2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Neural Dispatcher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7848405" y="2496820"/>
            <a:ext cx="1456229" cy="594360"/>
          </a:xfrm>
          <a:prstGeom prst="roundRect">
            <a:avLst>
              <a:gd name="adj" fmla="val 12308"/>
            </a:avLst>
          </a:prstGeom>
          <a:solidFill>
            <a:srgbClr val="F5F2EB"/>
          </a:solidFill>
          <a:ln w="25400">
            <a:solidFill>
              <a:srgbClr val="C29B3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894125" y="2542540"/>
            <a:ext cx="1364789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C2B2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Quantum Tensor Cores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0329077" y="1778000"/>
            <a:ext cx="1456229" cy="594360"/>
          </a:xfrm>
          <a:prstGeom prst="can">
            <a:avLst>
              <a:gd name="adj" fmla="val 12308"/>
            </a:avLst>
          </a:prstGeom>
          <a:solidFill>
            <a:srgbClr val="F5F2EB"/>
          </a:solidFill>
          <a:ln w="25400">
            <a:solidFill>
              <a:srgbClr val="8B000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0374797" y="1823720"/>
            <a:ext cx="1364789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C2B2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Vector Knowledge Base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10329077" y="3215640"/>
            <a:ext cx="1456229" cy="594360"/>
          </a:xfrm>
          <a:prstGeom prst="can">
            <a:avLst>
              <a:gd name="adj" fmla="val 12308"/>
            </a:avLst>
          </a:prstGeom>
          <a:solidFill>
            <a:srgbClr val="F5F2EB"/>
          </a:solidFill>
          <a:ln w="25400">
            <a:solidFill>
              <a:srgbClr val="2E7D32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0374797" y="3261360"/>
            <a:ext cx="1364789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C2B2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Redis Semantic Cache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57200" y="6492240"/>
            <a:ext cx="11277295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B686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YUMIA V0.1.26 •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CFB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06390" y="406400"/>
            <a:ext cx="11378916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200" b="1" dirty="0">
                <a:solidFill>
                  <a:srgbClr val="8B00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Empirical Performance Evaluation</a:t>
            </a:r>
            <a:endParaRPr lang="en-US" sz="4200" dirty="0"/>
          </a:p>
        </p:txBody>
      </p:sp>
      <p:sp>
        <p:nvSpPr>
          <p:cNvPr id="3" name="Text 1"/>
          <p:cNvSpPr/>
          <p:nvPr/>
        </p:nvSpPr>
        <p:spPr>
          <a:xfrm>
            <a:off x="406390" y="1155700"/>
            <a:ext cx="11378916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C2B2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Measured Benchmarks Across Compute Clusters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406390" y="1778000"/>
            <a:ext cx="5600560" cy="2120900"/>
          </a:xfrm>
          <a:prstGeom prst="roundRect">
            <a:avLst>
              <a:gd name="adj" fmla="val 3449"/>
            </a:avLst>
          </a:prstGeom>
          <a:solidFill>
            <a:srgbClr val="F5F2EB"/>
          </a:solidFill>
          <a:ln w="19050">
            <a:solidFill>
              <a:srgbClr val="2E7D3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24678" y="1814576"/>
            <a:ext cx="54864" cy="2047748"/>
          </a:xfrm>
          <a:prstGeom prst="roundRect">
            <a:avLst>
              <a:gd name="adj" fmla="val 50000"/>
            </a:avLst>
          </a:prstGeom>
          <a:solidFill>
            <a:srgbClr val="2E7D32"/>
          </a:solidFill>
          <a:ln/>
        </p:spPr>
      </p:sp>
      <p:sp>
        <p:nvSpPr>
          <p:cNvPr id="6" name="Text 4"/>
          <p:cNvSpPr/>
          <p:nvPr/>
        </p:nvSpPr>
        <p:spPr>
          <a:xfrm>
            <a:off x="634990" y="1942592"/>
            <a:ext cx="5143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7D3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Inference Latency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609585" y="2362200"/>
            <a:ext cx="5194170" cy="825500"/>
          </a:xfrm>
          <a:prstGeom prst="roundRect">
            <a:avLst>
              <a:gd name="adj" fmla="val 8862"/>
            </a:avLst>
          </a:prstGeom>
          <a:solidFill>
            <a:srgbClr val="F5F2EB"/>
          </a:solidFill>
          <a:ln w="19050">
            <a:solidFill>
              <a:srgbClr val="2E7D3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01025" y="2453640"/>
            <a:ext cx="501129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B686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BENCHMARKED SPEEDUP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701025" y="2673096"/>
            <a:ext cx="501129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2E7D3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1.42ms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609585" y="3365500"/>
            <a:ext cx="519417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2C2B2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End-to-end latency reduction under heavy concurrent load.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6184745" y="1778000"/>
            <a:ext cx="5600560" cy="2324100"/>
          </a:xfrm>
          <a:prstGeom prst="roundRect">
            <a:avLst>
              <a:gd name="adj" fmla="val 3148"/>
            </a:avLst>
          </a:prstGeom>
          <a:solidFill>
            <a:srgbClr val="F5F2EB"/>
          </a:solidFill>
          <a:ln w="19050">
            <a:solidFill>
              <a:srgbClr val="C29B3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03033" y="1814576"/>
            <a:ext cx="54864" cy="2250948"/>
          </a:xfrm>
          <a:prstGeom prst="roundRect">
            <a:avLst>
              <a:gd name="adj" fmla="val 50000"/>
            </a:avLst>
          </a:prstGeom>
          <a:solidFill>
            <a:srgbClr val="C29B38"/>
          </a:solidFill>
          <a:ln/>
        </p:spPr>
      </p:sp>
      <p:sp>
        <p:nvSpPr>
          <p:cNvPr id="13" name="Text 11"/>
          <p:cNvSpPr/>
          <p:nvPr/>
        </p:nvSpPr>
        <p:spPr>
          <a:xfrm>
            <a:off x="6413345" y="1942592"/>
            <a:ext cx="5143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29B3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Throughput Capacity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6387940" y="2362200"/>
            <a:ext cx="5194170" cy="825500"/>
          </a:xfrm>
          <a:prstGeom prst="roundRect">
            <a:avLst>
              <a:gd name="adj" fmla="val 8862"/>
            </a:avLst>
          </a:prstGeom>
          <a:solidFill>
            <a:srgbClr val="F5F2EB"/>
          </a:solidFill>
          <a:ln w="19050">
            <a:solidFill>
              <a:srgbClr val="C29B3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79380" y="2453640"/>
            <a:ext cx="501129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B686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BENCHMARKED SPEEDUP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479380" y="2673096"/>
            <a:ext cx="501129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C29B3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450k op/s</a:t>
            </a:r>
            <a:endParaRPr lang="en-US" sz="2600" dirty="0"/>
          </a:p>
        </p:txBody>
      </p:sp>
      <p:sp>
        <p:nvSpPr>
          <p:cNvPr id="17" name="Text 15"/>
          <p:cNvSpPr/>
          <p:nvPr/>
        </p:nvSpPr>
        <p:spPr>
          <a:xfrm>
            <a:off x="6387940" y="3365500"/>
            <a:ext cx="519417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2C2B2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Peak distributed operations sustained without buffer degradation.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457200" y="6492240"/>
            <a:ext cx="11277295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B686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YUMIA V0.1.26 •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CFB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06390" y="406400"/>
            <a:ext cx="11378916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200" b="1" dirty="0">
                <a:solidFill>
                  <a:srgbClr val="8B00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Comparative Analysis &amp; Mathematical Model</a:t>
            </a:r>
            <a:endParaRPr lang="en-US" sz="4200" dirty="0"/>
          </a:p>
        </p:txBody>
      </p:sp>
      <p:sp>
        <p:nvSpPr>
          <p:cNvPr id="3" name="Text 1"/>
          <p:cNvSpPr/>
          <p:nvPr/>
        </p:nvSpPr>
        <p:spPr>
          <a:xfrm>
            <a:off x="406390" y="1155700"/>
            <a:ext cx="11378916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C2B2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Formal Energy Convergence Formulation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406390" y="1778000"/>
            <a:ext cx="5506578" cy="2336800"/>
          </a:xfrm>
          <a:prstGeom prst="roundRect">
            <a:avLst>
              <a:gd name="adj" fmla="val 3913"/>
            </a:avLst>
          </a:prstGeom>
          <a:solidFill>
            <a:srgbClr val="F5F2EB"/>
          </a:solidFill>
          <a:ln w="19050">
            <a:solidFill>
              <a:srgbClr val="E0DAC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3550" y="1915160"/>
            <a:ext cx="523225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B00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Legacy Classical CPU / GPU Pipeline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278728" y="1778000"/>
            <a:ext cx="5506578" cy="2336800"/>
          </a:xfrm>
          <a:prstGeom prst="roundRect">
            <a:avLst>
              <a:gd name="adj" fmla="val 3913"/>
            </a:avLst>
          </a:prstGeom>
          <a:solidFill>
            <a:srgbClr val="F5F2EB"/>
          </a:solidFill>
          <a:ln w="19050">
            <a:solidFill>
              <a:srgbClr val="E0DAC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15888" y="1915160"/>
            <a:ext cx="523225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B00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Yumia Neural Tensor Pipeline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958688" y="2781808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E0DACD"/>
          </a:solidFill>
          <a:ln/>
        </p:spPr>
      </p:sp>
      <p:sp>
        <p:nvSpPr>
          <p:cNvPr id="9" name="Text 7"/>
          <p:cNvSpPr/>
          <p:nvPr/>
        </p:nvSpPr>
        <p:spPr>
          <a:xfrm>
            <a:off x="5958688" y="2781808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B686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VS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558786" y="2216150"/>
            <a:ext cx="2286000" cy="285750"/>
          </a:xfrm>
          <a:prstGeom prst="roundRect">
            <a:avLst>
              <a:gd name="adj" fmla="val 48000"/>
            </a:avLst>
          </a:prstGeom>
          <a:solidFill>
            <a:srgbClr val="F5F2EB"/>
          </a:solidFill>
          <a:ln w="19050">
            <a:solidFill>
              <a:srgbClr val="E6510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58786" y="2216150"/>
            <a:ext cx="2286000" cy="285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651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LEGACY INFRASTRUCTURE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58786" y="2590800"/>
            <a:ext cx="52957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2C2B2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Linear memory scaling with quadratic communication overhead during multi-node synchronization.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558786" y="3136900"/>
            <a:ext cx="5295768" cy="825500"/>
          </a:xfrm>
          <a:prstGeom prst="roundRect">
            <a:avLst>
              <a:gd name="adj" fmla="val 8862"/>
            </a:avLst>
          </a:prstGeom>
          <a:solidFill>
            <a:srgbClr val="F5F2EB"/>
          </a:solidFill>
          <a:ln w="19050">
            <a:solidFill>
              <a:srgbClr val="E6510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50226" y="3228340"/>
            <a:ext cx="511288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B686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AVG CONVERGENCE TIME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50226" y="3447796"/>
            <a:ext cx="511288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E651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68ms</a:t>
            </a:r>
            <a:endParaRPr lang="en-US" sz="2600" dirty="0"/>
          </a:p>
        </p:txBody>
      </p:sp>
      <p:sp>
        <p:nvSpPr>
          <p:cNvPr id="16" name="Shape 14"/>
          <p:cNvSpPr/>
          <p:nvPr/>
        </p:nvSpPr>
        <p:spPr>
          <a:xfrm>
            <a:off x="6337142" y="2216150"/>
            <a:ext cx="2286000" cy="285750"/>
          </a:xfrm>
          <a:prstGeom prst="roundRect">
            <a:avLst>
              <a:gd name="adj" fmla="val 48000"/>
            </a:avLst>
          </a:prstGeom>
          <a:solidFill>
            <a:srgbClr val="F5F2EB"/>
          </a:solidFill>
          <a:ln w="19050">
            <a:solidFill>
              <a:srgbClr val="2E7D3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337142" y="2216150"/>
            <a:ext cx="2286000" cy="285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E7D3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DISTRIBUTED TENSOR CORE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337142" y="2590800"/>
            <a:ext cx="52957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2C2B2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Logarithmic latency scaling leveraging quantum sparse tensor compression.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6337142" y="3136900"/>
            <a:ext cx="5295768" cy="825500"/>
          </a:xfrm>
          <a:prstGeom prst="roundRect">
            <a:avLst>
              <a:gd name="adj" fmla="val 8862"/>
            </a:avLst>
          </a:prstGeom>
          <a:solidFill>
            <a:srgbClr val="F5F2EB"/>
          </a:solidFill>
          <a:ln w="19050">
            <a:solidFill>
              <a:srgbClr val="2E7D32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28582" y="3228340"/>
            <a:ext cx="511288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B686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AVG CONVERGENCE TIME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6428582" y="3447796"/>
            <a:ext cx="511288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2E7D3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4.1ms</a:t>
            </a:r>
            <a:endParaRPr lang="en-US" sz="2600" dirty="0"/>
          </a:p>
        </p:txBody>
      </p:sp>
      <p:sp>
        <p:nvSpPr>
          <p:cNvPr id="22" name="Shape 20"/>
          <p:cNvSpPr/>
          <p:nvPr/>
        </p:nvSpPr>
        <p:spPr>
          <a:xfrm>
            <a:off x="406390" y="4292600"/>
            <a:ext cx="11378916" cy="571500"/>
          </a:xfrm>
          <a:prstGeom prst="roundRect">
            <a:avLst>
              <a:gd name="adj" fmla="val 12800"/>
            </a:avLst>
          </a:prstGeom>
          <a:solidFill>
            <a:srgbClr val="F5F2EB"/>
          </a:solidFill>
          <a:ln w="15240">
            <a:solidFill>
              <a:srgbClr val="E0DACD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06390" y="4292600"/>
            <a:ext cx="54864" cy="571500"/>
          </a:xfrm>
          <a:prstGeom prst="rect">
            <a:avLst/>
          </a:prstGeom>
          <a:solidFill>
            <a:srgbClr val="8B0000"/>
          </a:solidFill>
          <a:ln w="12700">
            <a:solidFill>
              <a:srgbClr val="8B000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43550" y="4292600"/>
            <a:ext cx="11104596" cy="5715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rgbClr val="2C2B29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\mathcal{L}(\theta) = \mathbb{E}_{x \sim \mathcal{D}} \left[ \| f_\theta(x) - y \|_2^2 \right] + \lambda \sum_{i=1}^N \Omega(W_i)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457200" y="6492240"/>
            <a:ext cx="11277295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B686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YUMIA V0.1.26 •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CFB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06390" y="406400"/>
            <a:ext cx="11378916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200" b="1" dirty="0">
                <a:solidFill>
                  <a:srgbClr val="8B00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Cluster Analytics &amp; Telemetry</a:t>
            </a:r>
            <a:endParaRPr lang="en-US" sz="4200" dirty="0"/>
          </a:p>
        </p:txBody>
      </p:sp>
      <p:sp>
        <p:nvSpPr>
          <p:cNvPr id="3" name="Text 1"/>
          <p:cNvSpPr/>
          <p:nvPr/>
        </p:nvSpPr>
        <p:spPr>
          <a:xfrm>
            <a:off x="406390" y="1155700"/>
            <a:ext cx="11378916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C2B2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Resource Allocation &amp; Workload Distribution</a:t>
            </a:r>
            <a:endParaRPr lang="en-US" sz="34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06390" y="1778000"/>
          <a:ext cx="5600560" cy="1778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5" name="Chart 1" descr=""/>
          <p:cNvGraphicFramePr/>
          <p:nvPr/>
        </p:nvGraphicFramePr>
        <p:xfrm>
          <a:off x="6184745" y="1778000"/>
          <a:ext cx="5600560" cy="1778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 2"/>
          <p:cNvSpPr/>
          <p:nvPr/>
        </p:nvSpPr>
        <p:spPr>
          <a:xfrm>
            <a:off x="457200" y="6492240"/>
            <a:ext cx="11277295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B686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YUMIA V0.1.26 •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CFB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06390" y="406400"/>
            <a:ext cx="11378916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200" b="1" dirty="0">
                <a:solidFill>
                  <a:srgbClr val="8B00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Implementation &amp; Runtime Kernel</a:t>
            </a:r>
            <a:endParaRPr lang="en-US" sz="4200" dirty="0"/>
          </a:p>
        </p:txBody>
      </p:sp>
      <p:sp>
        <p:nvSpPr>
          <p:cNvPr id="3" name="Text 1"/>
          <p:cNvSpPr/>
          <p:nvPr/>
        </p:nvSpPr>
        <p:spPr>
          <a:xfrm>
            <a:off x="406390" y="1155700"/>
            <a:ext cx="11378916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C2B2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Zero-Trust Mesh &amp; Compiler Directives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406390" y="1778000"/>
            <a:ext cx="6720672" cy="838200"/>
          </a:xfrm>
          <a:prstGeom prst="roundRect">
            <a:avLst>
              <a:gd name="adj" fmla="val 5455"/>
            </a:avLst>
          </a:prstGeom>
          <a:solidFill>
            <a:srgbClr val="2C2B29"/>
          </a:solidFill>
          <a:ln w="12700">
            <a:solidFill>
              <a:srgbClr val="E0DAC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89270" y="1915160"/>
            <a:ext cx="6354912" cy="563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5F2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{ YumiaCompiler, createEngine } from '@yumiamd/core';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5F2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 engine = createEngine({ target: 'multi-target' });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5F2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 result = await engine.compile('presentation.yumia');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04857" y="1778000"/>
            <a:ext cx="4480448" cy="831850"/>
          </a:xfrm>
          <a:prstGeom prst="roundRect">
            <a:avLst>
              <a:gd name="adj" fmla="val 8794"/>
            </a:avLst>
          </a:prstGeom>
          <a:solidFill>
            <a:srgbClr val="F5F2EB"/>
          </a:solidFill>
          <a:ln w="25400">
            <a:solidFill>
              <a:srgbClr val="2E7D3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442017" y="1851152"/>
            <a:ext cx="420612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3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Production Verified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7442017" y="2171192"/>
            <a:ext cx="4206128" cy="36550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C2B2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All cluster nodes reporting optimal throughput with zero memory leaks.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7304857" y="2787650"/>
            <a:ext cx="2011680" cy="285750"/>
          </a:xfrm>
          <a:prstGeom prst="roundRect">
            <a:avLst>
              <a:gd name="adj" fmla="val 48000"/>
            </a:avLst>
          </a:prstGeom>
          <a:solidFill>
            <a:srgbClr val="F5F2EB"/>
          </a:solidFill>
          <a:ln w="19050">
            <a:solidFill>
              <a:srgbClr val="2E7D3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304857" y="2787650"/>
            <a:ext cx="2011680" cy="285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E7D3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ZERO-TRUST MTLS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7304857" y="3251200"/>
            <a:ext cx="2231136" cy="285750"/>
          </a:xfrm>
          <a:prstGeom prst="roundRect">
            <a:avLst>
              <a:gd name="adj" fmla="val 48000"/>
            </a:avLst>
          </a:prstGeom>
          <a:solidFill>
            <a:srgbClr val="F5F2EB"/>
          </a:solidFill>
          <a:ln w="19050">
            <a:solidFill>
              <a:srgbClr val="8B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04857" y="3251200"/>
            <a:ext cx="2231136" cy="285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B00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WCAG AAA VERIFIED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57200" y="6492240"/>
            <a:ext cx="11277295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B686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YUMIA V0.1.26 • CONFIDENTIAL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Quantum Neural Processing &amp; Distributed Visual Intelligence</dc:title>
  <dc:subject>PptxGenJS Presentation</dc:subject>
  <dc:creator>Biagio Scaglia</dc:creator>
  <cp:lastModifiedBy>Biagio Scaglia</cp:lastModifiedBy>
  <cp:revision>1</cp:revision>
  <dcterms:created xsi:type="dcterms:W3CDTF">2026-09-06T09:29:53Z</dcterms:created>
  <dcterms:modified xsi:type="dcterms:W3CDTF">2026-09-06T09:29:53Z</dcterms:modified>
</cp:coreProperties>
</file>